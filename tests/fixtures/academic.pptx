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Default Extension="svg" ContentType="image/svg+xml"/>
  <Default Extension="gif" ContentType="image/gif"/>
  <Default Extension="bmp" ContentType="image/bmp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Slide1"/>
    <p:sldId id="257" r:id="rIdSlide2"/>
    <p:sldId id="258" r:id="rIdSlide3"/>
    <p:sldId id="259" r:id="rIdSlide4"/>
    <p:sldId id="260" r:id="rIdSlide5"/>
  </p:sldIdLst>
  <p:sldSz cx="12191695" cy="6858000"/>
  <p:notesSz cx="6858000" cy="9144000"/>
  <p:defaultTextStyle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Slide1" Type="http://schemas.openxmlformats.org/officeDocument/2006/relationships/slide" Target="slides/slide1.xml" /><Relationship Id="rIdSlide2" Type="http://schemas.openxmlformats.org/officeDocument/2006/relationships/slide" Target="slides/slide2.xml" /><Relationship Id="rIdSlide3" Type="http://schemas.openxmlformats.org/officeDocument/2006/relationships/slide" Target="slides/slide3.xml" /><Relationship Id="rIdSlide4" Type="http://schemas.openxmlformats.org/officeDocument/2006/relationships/slide" Target="slides/slide4.xml" /><Relationship Id="rIdSlide5" Type="http://schemas.openxmlformats.org/officeDocument/2006/relationships/slide" Target="slides/slide5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Layout1" Type="http://schemas.openxmlformats.org/officeDocument/2006/relationships/slideLayout" Target="../slideLayouts/slideLayout1.xml" /><Relationship Id="rIdTheme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3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ference Badge"/>
          <p:cNvSpPr/>
          <p:nvPr/>
        </p:nvSpPr>
        <p:spPr>
          <a:xfrm>
            <a:off x="914400" y="731520"/>
            <a:ext cx="3657600" cy="365760"/>
          </a:xfrm>
          <a:prstGeom prst="roundRect">
            <a:avLst>
              <a:gd name="adj" fmla="val 600000"/>
            </a:avLst>
          </a:prstGeom>
          <a:solidFill>
            <a:srgbClr val="1E3A8A"/>
          </a:solidFill>
          <a:ln w="12700">
            <a:solidFill>
              <a:srgbClr val="3B82F6"/>
            </a:solidFill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1100" b="1">
                <a:solidFill>
                  <a:srgbClr val="93C5FD"/>
                </a:solidFill>
                <a:latin typeface="Segoe UI"/>
                <a:ea typeface="Segoe UI"/>
                <a:cs typeface="Segoe UI"/>
              </a:rPr>
              <a:t>NEURIPS 2026 · ORAL PRESENTATION</a:t>
            </a:r>
            <a:endParaRPr lang="en-US" sz="1100"/>
          </a:p>
        </p:txBody>
      </p:sp>
      <p:sp>
        <p:nvSpPr>
          <p:cNvPr id="3" name="Paper Title"/>
          <p:cNvSpPr/>
          <p:nvPr/>
        </p:nvSpPr>
        <p:spPr>
          <a:xfrm>
            <a:off x="914400" y="1371600"/>
            <a:ext cx="10360152" cy="1463040"/>
          </a:xfrm>
          <a:prstGeom prst="textbox">
            <a:avLst/>
          </a:prstGeom>
          <a:solidFill>
            <a:srgbClr val="000000"/>
          </a:solidFill>
        </p:spPr>
        <p:txBody>
          <a:bodyPr wrap="square" rtlCol="0" anchor="ctr" lIns="91440" rIns="91440" tIns="45720" bIns="45720"/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Towards Scalable Vision-Language Reasoning in Autonomous Slide Synthesis</a:t>
            </a:r>
            <a:endParaRPr lang="en-US" sz="3600"/>
          </a:p>
        </p:txBody>
      </p:sp>
      <p:sp>
        <p:nvSpPr>
          <p:cNvPr id="4" name="Authors"/>
          <p:cNvSpPr/>
          <p:nvPr/>
        </p:nvSpPr>
        <p:spPr>
          <a:xfrm>
            <a:off x="914400" y="2926080"/>
            <a:ext cx="10360152" cy="548640"/>
          </a:xfrm>
          <a:prstGeom prst="textbox">
            <a:avLst/>
          </a:prstGeom>
          <a:solidFill>
            <a:srgbClr val="000000"/>
          </a:solidFill>
        </p:spPr>
        <p:txBody>
          <a:bodyPr wrap="square" rtlCol="0" anchor="ctr" lIns="91440" rIns="91440" tIns="45720" bIns="45720"/>
          <a:lstStyle/>
          <a:p>
            <a:pPr algn="l"/>
            <a:r>
              <a:rPr lang="en-US" sz="1500">
                <a:solidFill>
                  <a:srgbClr val="94A3B8"/>
                </a:solidFill>
                <a:latin typeface="Segoe UI"/>
                <a:ea typeface="Segoe UI"/>
                <a:cs typeface="Segoe UI"/>
              </a:rPr>
              <a:t>Alice Smith¹*, Bob Jones²*, Carol Wang¹ · ¹Stanford AI Lab  ²MIT CSAIL (* Equal Contribution)</a:t>
            </a:r>
            <a:endParaRPr lang="en-US" sz="1500"/>
          </a:p>
        </p:txBody>
      </p:sp>
      <p:sp>
        <p:nvSpPr>
          <p:cNvPr id="5" name="Abstract Card"/>
          <p:cNvSpPr/>
          <p:nvPr/>
        </p:nvSpPr>
        <p:spPr>
          <a:xfrm>
            <a:off x="914400" y="3749040"/>
            <a:ext cx="10360152" cy="2194560"/>
          </a:xfrm>
          <a:prstGeom prst="roundRect">
            <a:avLst>
              <a:gd name="adj" fmla="val 1000000"/>
            </a:avLst>
          </a:prstGeom>
          <a:solidFill>
            <a:srgbClr val="111827"/>
          </a:solidFill>
          <a:ln w="19050">
            <a:solidFill>
              <a:srgbClr val="1F2937"/>
            </a:solidFill>
          </a:ln>
          <a:effectLst>
            <a:outerShdw blurRad="101600" dist="38100" dir="2700000" algn="tl" rotWithShape="0">
              <a:srgbClr val="000000">
                <a:alpha val="400"/>
              </a:srgbClr>
            </a:outerShdw>
          </a:effectLst>
        </p:spPr>
        <p:txBody>
          <a:bodyPr wrap="square" rtlCol="0" anchor="ctr" lIns="91440" rIns="91440" tIns="45720" bIns="45720"/>
          <a:lstStyle/>
          <a:p>
            <a:pPr algn="l"/>
            <a:r>
              <a:rPr lang="en-US" sz="14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Abstract:</a:t>
            </a:r>
            <a:endParaRPr lang="en-US" sz="1400"/>
          </a:p>
          <a:p>
            <a:pPr algn="l"/>
            <a:r>
              <a:rPr lang="en-US" sz="1400">
                <a:solidFill>
                  <a:srgbClr val="D1D5DB"/>
                </a:solidFill>
                <a:latin typeface="Segoe UI"/>
                <a:ea typeface="Segoe UI"/>
                <a:cs typeface="Segoe UI"/>
              </a:rPr>
              <a:t>We present AgentStudio, a principled framework for multi-modal spatial reasoning and presentation synthesis. By grounding intermediate representations (PPT-IR) into standard geometric coordinate spaces, our approach eliminates semantic drift and layout hallucinations common in unconstrained LLM slide generation. Extensive experiments across 500 academic decks demonstrate 99.4% package validity and superior visual fidelity.</a:t>
            </a:r>
            <a:endParaRPr lang="en-US" sz="1400"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/>
          <p:cNvSpPr/>
          <p:nvPr/>
        </p:nvSpPr>
        <p:spPr>
          <a:xfrm>
            <a:off x="914400" y="640080"/>
            <a:ext cx="10360152" cy="731520"/>
          </a:xfrm>
          <a:prstGeom prst="textbox">
            <a:avLst/>
          </a:prstGeom>
          <a:solidFill>
            <a:srgbClr val="000000"/>
          </a:solidFill>
        </p:spPr>
        <p:txBody>
          <a:bodyPr wrap="square" rtlCol="0" anchor="ctr" lIns="91440" rIns="91440" tIns="45720" bIns="4572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1. Theoretical Motivation &amp; Problem Formulation</a:t>
            </a:r>
            <a:endParaRPr lang="en-US" sz="2800"/>
          </a:p>
        </p:txBody>
      </p:sp>
      <p:sp>
        <p:nvSpPr>
          <p:cNvPr id="3" name="Spatial Distortion Card"/>
          <p:cNvSpPr/>
          <p:nvPr/>
        </p:nvSpPr>
        <p:spPr>
          <a:xfrm>
            <a:off x="914400" y="1645920"/>
            <a:ext cx="3200400" cy="4389120"/>
          </a:xfrm>
          <a:prstGeom prst="roundRect">
            <a:avLst>
              <a:gd name="adj" fmla="val 1000000"/>
            </a:avLst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txBody>
          <a:bodyPr wrap="square" rtlCol="0" anchor="ctr" lIns="91440" rIns="91440" tIns="45720" bIns="45720"/>
          <a:lstStyle/>
          <a:p>
            <a:pPr algn="l"/>
            <a:r>
              <a:rPr lang="en-US" sz="13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Challenge A: Spatial Distortion</a:t>
            </a:r>
            <a:endParaRPr lang="en-US" sz="1300"/>
          </a:p>
          <a:p>
            <a:pPr algn="l"/>
            <a:r>
              <a:rPr lang="en-US" sz="13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/>
            </a:r>
            <a:endParaRPr lang="en-US" sz="1300"/>
          </a:p>
          <a:p>
            <a:pPr algn="l"/>
            <a:r>
              <a:rPr lang="en-US" sz="13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• Autoregressive tokenizers lack 2D geometric priors.</a:t>
            </a:r>
            <a:endParaRPr lang="en-US" sz="1300"/>
          </a:p>
          <a:p>
            <a:pPr algn="l"/>
            <a:r>
              <a:rPr lang="en-US" sz="13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• Text overflowing and shape bounding collisions (error &gt; 45px).</a:t>
            </a:r>
            <a:endParaRPr lang="en-US" sz="1300"/>
          </a:p>
          <a:p>
            <a:pPr algn="l"/>
            <a:r>
              <a:rPr lang="en-US" sz="13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• Inability to resolve visual hierarchy automatically.</a:t>
            </a:r>
            <a:endParaRPr lang="en-US" sz="1300"/>
          </a:p>
        </p:txBody>
      </p:sp>
      <p:sp>
        <p:nvSpPr>
          <p:cNvPr id="4" name="Semantic Drift Card"/>
          <p:cNvSpPr/>
          <p:nvPr/>
        </p:nvSpPr>
        <p:spPr>
          <a:xfrm>
            <a:off x="4489704" y="1645920"/>
            <a:ext cx="3200400" cy="4389120"/>
          </a:xfrm>
          <a:prstGeom prst="roundRect">
            <a:avLst>
              <a:gd name="adj" fmla="val 1000000"/>
            </a:avLst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txBody>
          <a:bodyPr wrap="square" rtlCol="0" anchor="ctr" lIns="91440" rIns="91440" tIns="45720" bIns="45720"/>
          <a:lstStyle/>
          <a:p>
            <a:pPr algn="l"/>
            <a:r>
              <a:rPr lang="en-US" sz="13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Challenge B: Semantic Drift</a:t>
            </a:r>
            <a:endParaRPr lang="en-US" sz="1300"/>
          </a:p>
          <a:p>
            <a:pPr algn="l"/>
            <a:r>
              <a:rPr lang="en-US" sz="13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/>
            </a:r>
            <a:endParaRPr lang="en-US" sz="1300"/>
          </a:p>
          <a:p>
            <a:pPr algn="l"/>
            <a:r>
              <a:rPr lang="en-US" sz="13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• Unconstrained generation mutates domain formulas (∇_θ L(x)).</a:t>
            </a:r>
            <a:endParaRPr lang="en-US" sz="1300"/>
          </a:p>
          <a:p>
            <a:pPr algn="l"/>
            <a:r>
              <a:rPr lang="en-US" sz="13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• Loss of academic citation structures.</a:t>
            </a:r>
            <a:endParaRPr lang="en-US" sz="1300"/>
          </a:p>
          <a:p>
            <a:pPr algn="l"/>
            <a:r>
              <a:rPr lang="en-US" sz="13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• Inconsistent typography styles between adjacent slides.</a:t>
            </a:r>
            <a:endParaRPr lang="en-US" sz="1300"/>
          </a:p>
        </p:txBody>
      </p:sp>
      <p:sp>
        <p:nvSpPr>
          <p:cNvPr id="5" name="OOXML Brittleness Card"/>
          <p:cNvSpPr/>
          <p:nvPr/>
        </p:nvSpPr>
        <p:spPr>
          <a:xfrm>
            <a:off x="8074152" y="1645920"/>
            <a:ext cx="3200400" cy="4389120"/>
          </a:xfrm>
          <a:prstGeom prst="roundRect">
            <a:avLst>
              <a:gd name="adj" fmla="val 1000000"/>
            </a:avLst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txBody>
          <a:bodyPr wrap="square" rtlCol="0" anchor="ctr" lIns="91440" rIns="91440" tIns="45720" bIns="45720"/>
          <a:lstStyle/>
          <a:p>
            <a:pPr algn="l"/>
            <a:r>
              <a:rPr lang="en-US" sz="13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Challenge C: OOXML Brittleness</a:t>
            </a:r>
            <a:endParaRPr lang="en-US" sz="1300"/>
          </a:p>
          <a:p>
            <a:pPr algn="l"/>
            <a:r>
              <a:rPr lang="en-US" sz="13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/>
            </a:r>
            <a:endParaRPr lang="en-US" sz="1300"/>
          </a:p>
          <a:p>
            <a:pPr algn="l"/>
            <a:r>
              <a:rPr lang="en-US" sz="13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• Raw XML string generation leads to corrupted zip packages.</a:t>
            </a:r>
            <a:endParaRPr lang="en-US" sz="1300"/>
          </a:p>
          <a:p>
            <a:pPr algn="l"/>
            <a:r>
              <a:rPr lang="en-US" sz="13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• Schema violations under ECMA-376 specification.</a:t>
            </a:r>
            <a:endParaRPr lang="en-US" sz="1300"/>
          </a:p>
          <a:p>
            <a:pPr algn="l"/>
            <a:r>
              <a:rPr lang="en-US" sz="1300">
                <a:solidFill>
                  <a:srgbClr val="E5E7EB"/>
                </a:solidFill>
                <a:latin typeface="Segoe UI"/>
                <a:ea typeface="Segoe UI"/>
                <a:cs typeface="Segoe UI"/>
              </a:rPr>
              <a:t>• Incomplete drawingML relationship mappings.</a:t>
            </a:r>
            <a:endParaRPr lang="en-US" sz="1300"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rchitecture Title"/>
          <p:cNvSpPr/>
          <p:nvPr/>
        </p:nvSpPr>
        <p:spPr>
          <a:xfrm>
            <a:off x="914400" y="640080"/>
            <a:ext cx="10360152" cy="731520"/>
          </a:xfrm>
          <a:prstGeom prst="textbox">
            <a:avLst/>
          </a:prstGeom>
          <a:solidFill>
            <a:srgbClr val="000000"/>
          </a:solidFill>
        </p:spPr>
        <p:txBody>
          <a:bodyPr wrap="square" rtlCol="0" anchor="ctr" lIns="91440" rIns="91440" tIns="45720" bIns="4572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2. System Architecture &amp; Closed-Loop Pipeline</a:t>
            </a:r>
            <a:endParaRPr lang="en-US" sz="2800"/>
          </a:p>
        </p:txBody>
      </p:sp>
      <p:grpSp>
        <p:nvGrpSpPr>
          <p:cNvPr id="3" name="Perception Group"/>
          <p:cNvGrpSpPr/>
          <p:nvPr/>
        </p:nvGrpSpPr>
        <p:grpSpPr>
          <a:xfrm>
            <a:off x="914400" y="2011680"/>
            <a:ext cx="2926080" cy="3291840"/>
            <a:chOff x="914400" y="2011680"/>
            <a:chExt cx="2926080" cy="3291840"/>
          </a:xfrm>
        </p:grpSpPr>
        <p:sp>
          <p:nvSpPr>
            <p:cNvPr id="4" name="Perception Box"/>
            <p:cNvSpPr/>
            <p:nvPr/>
          </p:nvSpPr>
          <p:spPr>
            <a:xfrm>
              <a:off x="914400" y="2011680"/>
              <a:ext cx="2926080" cy="3291840"/>
            </a:xfrm>
            <a:prstGeom prst="rect">
              <a:avLst/>
            </a:prstGeom>
            <a:solidFill>
              <a:srgbClr val="1E293B"/>
            </a:solidFill>
            <a:ln w="19050">
              <a:solidFill>
                <a:srgbClr val="38BDF8"/>
              </a:solidFill>
            </a:ln>
          </p:spPr>
        </p:sp>
        <p:sp>
          <p:nvSpPr>
            <p:cNvPr id="5" name="Perception Text"/>
            <p:cNvSpPr/>
            <p:nvPr/>
          </p:nvSpPr>
          <p:spPr>
            <a:xfrm>
              <a:off x="1097280" y="2194560"/>
              <a:ext cx="2560320" cy="2926080"/>
            </a:xfrm>
            <a:prstGeom prst="textbox">
              <a:avLst/>
            </a:prstGeom>
            <a:solidFill>
              <a:srgbClr val="000000"/>
            </a:solidFill>
          </p:spPr>
          <p:txBody>
            <a:bodyPr wrap="square" rtlCol="0" anchor="ctr" lIns="91440" rIns="91440" tIns="45720" bIns="45720"/>
            <a:lstStyle/>
            <a:p>
              <a:pPr algn="l"/>
              <a:r>
                <a:rPr lang="en-US" sz="1400">
                  <a:solidFill>
                    <a:srgbClr val="F1F5F9"/>
                  </a:solidFill>
                  <a:latin typeface="Segoe UI"/>
                  <a:ea typeface="Segoe UI"/>
                  <a:cs typeface="Segoe UI"/>
                </a:rPr>
                <a:t>Perception Module</a:t>
              </a:r>
              <a:endParaRPr lang="en-US" sz="1400"/>
            </a:p>
            <a:p>
              <a:pPr algn="l"/>
              <a:r>
                <a:rPr lang="en-US" sz="1400">
                  <a:solidFill>
                    <a:srgbClr val="F1F5F9"/>
                  </a:solidFill>
                  <a:latin typeface="Segoe UI"/>
                  <a:ea typeface="Segoe UI"/>
                  <a:cs typeface="Segoe UI"/>
                </a:rPr>
                <a:t/>
              </a:r>
              <a:endParaRPr lang="en-US" sz="1400"/>
            </a:p>
            <a:p>
              <a:pPr algn="l"/>
              <a:r>
                <a:rPr lang="en-US" sz="1400">
                  <a:solidFill>
                    <a:srgbClr val="F1F5F9"/>
                  </a:solidFill>
                  <a:latin typeface="Segoe UI"/>
                  <a:ea typeface="Segoe UI"/>
                  <a:cs typeface="Segoe UI"/>
                </a:rPr>
                <a:t>- OOXML Extractor</a:t>
              </a:r>
              <a:endParaRPr lang="en-US" sz="1400"/>
            </a:p>
            <a:p>
              <a:pPr algn="l"/>
              <a:r>
                <a:rPr lang="en-US" sz="1400">
                  <a:solidFill>
                    <a:srgbClr val="F1F5F9"/>
                  </a:solidFill>
                  <a:latin typeface="Segoe UI"/>
                  <a:ea typeface="Segoe UI"/>
                  <a:cs typeface="Segoe UI"/>
                </a:rPr>
                <a:t>- DrawingML Parser</a:t>
              </a:r>
              <a:endParaRPr lang="en-US" sz="1400"/>
            </a:p>
            <a:p>
              <a:pPr algn="l"/>
              <a:r>
                <a:rPr lang="en-US" sz="1400">
                  <a:solidFill>
                    <a:srgbClr val="F1F5F9"/>
                  </a:solidFill>
                  <a:latin typeface="Segoe UI"/>
                  <a:ea typeface="Segoe UI"/>
                  <a:cs typeface="Segoe UI"/>
                </a:rPr>
                <a:t>- PPT-IR Model Mapper</a:t>
              </a:r>
              <a:endParaRPr lang="en-US" sz="1400"/>
            </a:p>
          </p:txBody>
        </p:sp>
      </p:grpSp>
      <p:grpSp>
        <p:nvGrpSpPr>
          <p:cNvPr id="6" name="Planning Group"/>
          <p:cNvGrpSpPr/>
          <p:nvPr/>
        </p:nvGrpSpPr>
        <p:grpSpPr>
          <a:xfrm>
            <a:off x="4626864" y="2011680"/>
            <a:ext cx="2926080" cy="3291840"/>
            <a:chOff x="4626864" y="2011680"/>
            <a:chExt cx="2926080" cy="3291840"/>
          </a:xfrm>
        </p:grpSpPr>
        <p:sp>
          <p:nvSpPr>
            <p:cNvPr id="7" name="Reasoning Box"/>
            <p:cNvSpPr/>
            <p:nvPr/>
          </p:nvSpPr>
          <p:spPr>
            <a:xfrm>
              <a:off x="4626864" y="2011680"/>
              <a:ext cx="2926080" cy="3291840"/>
            </a:xfrm>
            <a:prstGeom prst="rect">
              <a:avLst/>
            </a:prstGeom>
            <a:solidFill>
              <a:srgbClr val="1E293B"/>
            </a:solidFill>
            <a:ln w="19050">
              <a:solidFill>
                <a:srgbClr val="818CF8"/>
              </a:solidFill>
            </a:ln>
          </p:spPr>
        </p:sp>
        <p:sp>
          <p:nvSpPr>
            <p:cNvPr id="8" name="Reasoning Text"/>
            <p:cNvSpPr/>
            <p:nvPr/>
          </p:nvSpPr>
          <p:spPr>
            <a:xfrm>
              <a:off x="4809744" y="2194560"/>
              <a:ext cx="2560320" cy="2926080"/>
            </a:xfrm>
            <a:prstGeom prst="textbox">
              <a:avLst/>
            </a:prstGeom>
            <a:solidFill>
              <a:srgbClr val="000000"/>
            </a:solidFill>
          </p:spPr>
          <p:txBody>
            <a:bodyPr wrap="square" rtlCol="0" anchor="ctr" lIns="91440" rIns="91440" tIns="45720" bIns="45720"/>
            <a:lstStyle/>
            <a:p>
              <a:pPr algn="l"/>
              <a:r>
                <a:rPr lang="en-US" sz="1400">
                  <a:solidFill>
                    <a:srgbClr val="F1F5F9"/>
                  </a:solidFill>
                  <a:latin typeface="Segoe UI"/>
                  <a:ea typeface="Segoe UI"/>
                  <a:cs typeface="Segoe UI"/>
                </a:rPr>
                <a:t>LangGraph Planner</a:t>
              </a:r>
              <a:endParaRPr lang="en-US" sz="1400"/>
            </a:p>
            <a:p>
              <a:pPr algn="l"/>
              <a:r>
                <a:rPr lang="en-US" sz="1400">
                  <a:solidFill>
                    <a:srgbClr val="F1F5F9"/>
                  </a:solidFill>
                  <a:latin typeface="Segoe UI"/>
                  <a:ea typeface="Segoe UI"/>
                  <a:cs typeface="Segoe UI"/>
                </a:rPr>
                <a:t/>
              </a:r>
              <a:endParaRPr lang="en-US" sz="1400"/>
            </a:p>
            <a:p>
              <a:pPr algn="l"/>
              <a:r>
                <a:rPr lang="en-US" sz="1400">
                  <a:solidFill>
                    <a:srgbClr val="F1F5F9"/>
                  </a:solidFill>
                  <a:latin typeface="Segoe UI"/>
                  <a:ea typeface="Segoe UI"/>
                  <a:cs typeface="Segoe UI"/>
                </a:rPr>
                <a:t>- StateGraph Engine</a:t>
              </a:r>
              <a:endParaRPr lang="en-US" sz="1400"/>
            </a:p>
            <a:p>
              <a:pPr algn="l"/>
              <a:r>
                <a:rPr lang="en-US" sz="1400">
                  <a:solidFill>
                    <a:srgbClr val="F1F5F9"/>
                  </a:solidFill>
                  <a:latin typeface="Segoe UI"/>
                  <a:ea typeface="Segoe UI"/>
                  <a:cs typeface="Segoe UI"/>
                </a:rPr>
                <a:t>- Intent Router</a:t>
              </a:r>
              <a:endParaRPr lang="en-US" sz="1400"/>
            </a:p>
            <a:p>
              <a:pPr algn="l"/>
              <a:r>
                <a:rPr lang="en-US" sz="1400">
                  <a:solidFill>
                    <a:srgbClr val="F1F5F9"/>
                  </a:solidFill>
                  <a:latin typeface="Segoe UI"/>
                  <a:ea typeface="Segoe UI"/>
                  <a:cs typeface="Segoe UI"/>
                </a:rPr>
                <a:t>- Archetype Layout Planner</a:t>
              </a:r>
              <a:endParaRPr lang="en-US" sz="1400"/>
            </a:p>
          </p:txBody>
        </p:sp>
      </p:grpSp>
      <p:grpSp>
        <p:nvGrpSpPr>
          <p:cNvPr id="9" name="Execution Group"/>
          <p:cNvGrpSpPr/>
          <p:nvPr/>
        </p:nvGrpSpPr>
        <p:grpSpPr>
          <a:xfrm>
            <a:off x="8348472" y="2011680"/>
            <a:ext cx="2926080" cy="3291840"/>
            <a:chOff x="8348472" y="2011680"/>
            <a:chExt cx="2926080" cy="3291840"/>
          </a:xfrm>
        </p:grpSpPr>
        <p:sp>
          <p:nvSpPr>
            <p:cNvPr id="10" name="Execution Box"/>
            <p:cNvSpPr/>
            <p:nvPr/>
          </p:nvSpPr>
          <p:spPr>
            <a:xfrm>
              <a:off x="8348472" y="2011680"/>
              <a:ext cx="2926080" cy="3291840"/>
            </a:xfrm>
            <a:prstGeom prst="rect">
              <a:avLst/>
            </a:prstGeom>
            <a:solidFill>
              <a:srgbClr val="1E293B"/>
            </a:solidFill>
            <a:ln w="19050">
              <a:solidFill>
                <a:srgbClr val="34D399"/>
              </a:solidFill>
            </a:ln>
          </p:spPr>
        </p:sp>
        <p:sp>
          <p:nvSpPr>
            <p:cNvPr id="11" name="Execution Text"/>
            <p:cNvSpPr/>
            <p:nvPr/>
          </p:nvSpPr>
          <p:spPr>
            <a:xfrm>
              <a:off x="8531352" y="2194560"/>
              <a:ext cx="2560320" cy="2926080"/>
            </a:xfrm>
            <a:prstGeom prst="textbox">
              <a:avLst/>
            </a:prstGeom>
            <a:solidFill>
              <a:srgbClr val="000000"/>
            </a:solidFill>
          </p:spPr>
          <p:txBody>
            <a:bodyPr wrap="square" rtlCol="0" anchor="ctr" lIns="91440" rIns="91440" tIns="45720" bIns="45720"/>
            <a:lstStyle/>
            <a:p>
              <a:pPr algn="l"/>
              <a:r>
                <a:rPr lang="en-US" sz="1400">
                  <a:solidFill>
                    <a:srgbClr val="F1F5F9"/>
                  </a:solidFill>
                  <a:latin typeface="Segoe UI"/>
                  <a:ea typeface="Segoe UI"/>
                  <a:cs typeface="Segoe UI"/>
                </a:rPr>
                <a:t>Execution &amp; Review</a:t>
              </a:r>
              <a:endParaRPr lang="en-US" sz="1400"/>
            </a:p>
            <a:p>
              <a:pPr algn="l"/>
              <a:r>
                <a:rPr lang="en-US" sz="1400">
                  <a:solidFill>
                    <a:srgbClr val="F1F5F9"/>
                  </a:solidFill>
                  <a:latin typeface="Segoe UI"/>
                  <a:ea typeface="Segoe UI"/>
                  <a:cs typeface="Segoe UI"/>
                </a:rPr>
                <a:t/>
              </a:r>
              <a:endParaRPr lang="en-US" sz="1400"/>
            </a:p>
            <a:p>
              <a:pPr algn="l"/>
              <a:r>
                <a:rPr lang="en-US" sz="1400">
                  <a:solidFill>
                    <a:srgbClr val="F1F5F9"/>
                  </a:solidFill>
                  <a:latin typeface="Segoe UI"/>
                  <a:ea typeface="Segoe UI"/>
                  <a:cs typeface="Segoe UI"/>
                </a:rPr>
                <a:t>- Atomic IR Tool Suite</a:t>
              </a:r>
              <a:endParaRPr lang="en-US" sz="1400"/>
            </a:p>
            <a:p>
              <a:pPr algn="l"/>
              <a:r>
                <a:rPr lang="en-US" sz="1400">
                  <a:solidFill>
                    <a:srgbClr val="F1F5F9"/>
                  </a:solidFill>
                  <a:latin typeface="Segoe UI"/>
                  <a:ea typeface="Segoe UI"/>
                  <a:cs typeface="Segoe UI"/>
                </a:rPr>
                <a:t>- History Patch Engine</a:t>
              </a:r>
              <a:endParaRPr lang="en-US" sz="1400"/>
            </a:p>
            <a:p>
              <a:pPr algn="l"/>
              <a:r>
                <a:rPr lang="en-US" sz="1400">
                  <a:solidFill>
                    <a:srgbClr val="F1F5F9"/>
                  </a:solidFill>
                  <a:latin typeface="Segoe UI"/>
                  <a:ea typeface="Segoe UI"/>
                  <a:cs typeface="Segoe UI"/>
                </a:rPr>
                <a:t>- High-fidelity OOXML Builder</a:t>
              </a:r>
              <a:endParaRPr lang="en-US" sz="1400"/>
            </a:p>
          </p:txBody>
        </p:sp>
      </p:grpSp>
      <p:cxnSp>
        <p:nvCxnSpPr>
          <p:cNvPr id="12" name="Perception to Planning"/>
          <p:cNvCxnSpPr/>
          <p:nvPr/>
        </p:nvCxnSpPr>
        <p:spPr>
          <a:xfrm>
            <a:off x="3840480" y="3657600"/>
            <a:ext cx="786384" cy="0"/>
          </a:xfrm>
          <a:prstGeom prst="straightConnector1">
            <a:avLst/>
          </a:prstGeom>
          <a:ln w="25400">
            <a:solidFill>
              <a:srgbClr val="60A5FA"/>
            </a:solidFill>
            <a:headEnd type="triangle" w="med" len="med"/>
          </a:ln>
        </p:spPr>
      </p:cxnSp>
      <p:cxnSp>
        <p:nvCxnSpPr>
          <p:cNvPr id="13" name="Planning to Execution"/>
          <p:cNvCxnSpPr/>
          <p:nvPr/>
        </p:nvCxnSpPr>
        <p:spPr>
          <a:xfrm>
            <a:off x="7552944" y="3657600"/>
            <a:ext cx="795528" cy="0"/>
          </a:xfrm>
          <a:prstGeom prst="straightConnector1">
            <a:avLst/>
          </a:prstGeom>
          <a:ln w="25400">
            <a:solidFill>
              <a:srgbClr val="60A5FA"/>
            </a:solidFill>
            <a:headEnd type="triangle" w="med" len="med"/>
          </a:ln>
        </p:spPr>
      </p:cxnSp>
      <p:cxnSp>
        <p:nvCxnSpPr>
          <p:cNvPr id="14" name="Feedback Loop"/>
          <p:cNvCxnSpPr/>
          <p:nvPr/>
        </p:nvCxnSpPr>
        <p:spPr>
          <a:xfrm flipH="1">
            <a:off x="3840480" y="4572000"/>
            <a:ext cx="4507992" cy="0"/>
          </a:xfrm>
          <a:prstGeom prst="curvedConnector3">
            <a:avLst/>
          </a:prstGeom>
          <a:ln w="22860">
            <a:solidFill>
              <a:srgbClr val="F43F5E"/>
            </a:solidFill>
            <a:headEnd type="triangle" w="med" len="med"/>
          </a:ln>
        </p:spPr>
      </p:cxn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enchmark Title"/>
          <p:cNvSpPr/>
          <p:nvPr/>
        </p:nvSpPr>
        <p:spPr>
          <a:xfrm>
            <a:off x="914400" y="640080"/>
            <a:ext cx="10360152" cy="731520"/>
          </a:xfrm>
          <a:prstGeom prst="textbox">
            <a:avLst/>
          </a:prstGeom>
          <a:solidFill>
            <a:srgbClr val="000000"/>
          </a:solidFill>
        </p:spPr>
        <p:txBody>
          <a:bodyPr wrap="square" rtlCol="0" anchor="ctr" lIns="91440" rIns="91440" tIns="45720" bIns="4572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3. Empirical Evaluation on 500 Academic Decks</a:t>
            </a:r>
            <a:endParaRPr lang="en-US" sz="2800"/>
          </a:p>
        </p:txBody>
      </p:sp>
      <p:sp>
        <p:nvSpPr>
          <p:cNvPr id="3" name="Metric 1 Card"/>
          <p:cNvSpPr/>
          <p:nvPr/>
        </p:nvSpPr>
        <p:spPr>
          <a:xfrm>
            <a:off x="914400" y="1645920"/>
            <a:ext cx="3200400" cy="2011680"/>
          </a:xfrm>
          <a:prstGeom prst="roundRect">
            <a:avLst>
              <a:gd name="adj" fmla="val 1000000"/>
            </a:avLst>
          </a:prstGeom>
          <a:solidFill>
            <a:srgbClr val="111827"/>
          </a:solidFill>
          <a:ln w="25400">
            <a:solidFill>
              <a:srgbClr val="3B82F6"/>
            </a:solidFill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2400" b="1">
                <a:solidFill>
                  <a:srgbClr val="60A5FA"/>
                </a:solidFill>
                <a:latin typeface="Segoe UI"/>
                <a:ea typeface="Segoe UI"/>
                <a:cs typeface="Segoe UI"/>
              </a:rPr>
              <a:t>99.4%</a:t>
            </a:r>
            <a:endParaRPr lang="en-US" sz="2400"/>
          </a:p>
          <a:p>
            <a:pPr algn="ctr"/>
            <a:r>
              <a:rPr lang="en-US" sz="2400" b="1">
                <a:solidFill>
                  <a:srgbClr val="60A5FA"/>
                </a:solidFill>
                <a:latin typeface="Segoe UI"/>
                <a:ea typeface="Segoe UI"/>
                <a:cs typeface="Segoe UI"/>
              </a:rPr>
              <a:t/>
            </a:r>
            <a:endParaRPr lang="en-US" sz="2400"/>
          </a:p>
          <a:p>
            <a:pPr algn="ctr"/>
            <a:r>
              <a:rPr lang="en-US" sz="2400" b="1">
                <a:solidFill>
                  <a:srgbClr val="60A5FA"/>
                </a:solidFill>
                <a:latin typeface="Segoe UI"/>
                <a:ea typeface="Segoe UI"/>
                <a:cs typeface="Segoe UI"/>
              </a:rPr>
              <a:t>OOXML Package Validity</a:t>
            </a:r>
            <a:endParaRPr lang="en-US" sz="2400"/>
          </a:p>
          <a:p>
            <a:pPr algn="ctr"/>
            <a:r>
              <a:rPr lang="en-US" sz="2400" b="1">
                <a:solidFill>
                  <a:srgbClr val="60A5FA"/>
                </a:solidFill>
                <a:latin typeface="Segoe UI"/>
                <a:ea typeface="Segoe UI"/>
                <a:cs typeface="Segoe UI"/>
              </a:rPr>
              <a:t>(Zero corruption errors)</a:t>
            </a:r>
            <a:endParaRPr lang="en-US" sz="2400"/>
          </a:p>
        </p:txBody>
      </p:sp>
      <p:sp>
        <p:nvSpPr>
          <p:cNvPr id="4" name="Metric 2 Card"/>
          <p:cNvSpPr/>
          <p:nvPr/>
        </p:nvSpPr>
        <p:spPr>
          <a:xfrm>
            <a:off x="4489704" y="1645920"/>
            <a:ext cx="3200400" cy="2011680"/>
          </a:xfrm>
          <a:prstGeom prst="roundRect">
            <a:avLst>
              <a:gd name="adj" fmla="val 1000000"/>
            </a:avLst>
          </a:prstGeom>
          <a:solidFill>
            <a:srgbClr val="111827"/>
          </a:solidFill>
          <a:ln w="25400">
            <a:solidFill>
              <a:srgbClr val="10B981"/>
            </a:solidFill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2400" b="1">
                <a:solidFill>
                  <a:srgbClr val="34D399"/>
                </a:solidFill>
                <a:latin typeface="Segoe UI"/>
                <a:ea typeface="Segoe UI"/>
                <a:cs typeface="Segoe UI"/>
              </a:rPr>
              <a:t>0.918</a:t>
            </a:r>
            <a:endParaRPr lang="en-US" sz="2400"/>
          </a:p>
          <a:p>
            <a:pPr algn="ctr"/>
            <a:r>
              <a:rPr lang="en-US" sz="2400" b="1">
                <a:solidFill>
                  <a:srgbClr val="34D399"/>
                </a:solidFill>
                <a:latin typeface="Segoe UI"/>
                <a:ea typeface="Segoe UI"/>
                <a:cs typeface="Segoe UI"/>
              </a:rPr>
              <a:t/>
            </a:r>
            <a:endParaRPr lang="en-US" sz="2400"/>
          </a:p>
          <a:p>
            <a:pPr algn="ctr"/>
            <a:r>
              <a:rPr lang="en-US" sz="2400" b="1">
                <a:solidFill>
                  <a:srgbClr val="34D399"/>
                </a:solidFill>
                <a:latin typeface="Segoe UI"/>
                <a:ea typeface="Segoe UI"/>
                <a:cs typeface="Segoe UI"/>
              </a:rPr>
              <a:t>Structural SSIM Score</a:t>
            </a:r>
            <a:endParaRPr lang="en-US" sz="2400"/>
          </a:p>
          <a:p>
            <a:pPr algn="ctr"/>
            <a:r>
              <a:rPr lang="en-US" sz="2400" b="1">
                <a:solidFill>
                  <a:srgbClr val="34D399"/>
                </a:solidFill>
                <a:latin typeface="Segoe UI"/>
                <a:ea typeface="Segoe UI"/>
                <a:cs typeface="Segoe UI"/>
              </a:rPr>
              <a:t>(High-fidelity vector match)</a:t>
            </a:r>
            <a:endParaRPr lang="en-US" sz="2400"/>
          </a:p>
        </p:txBody>
      </p:sp>
      <p:sp>
        <p:nvSpPr>
          <p:cNvPr id="5" name="Metric 3 Card"/>
          <p:cNvSpPr/>
          <p:nvPr/>
        </p:nvSpPr>
        <p:spPr>
          <a:xfrm>
            <a:off x="8074152" y="1645920"/>
            <a:ext cx="3200400" cy="2011680"/>
          </a:xfrm>
          <a:prstGeom prst="roundRect">
            <a:avLst>
              <a:gd name="adj" fmla="val 1000000"/>
            </a:avLst>
          </a:prstGeom>
          <a:solidFill>
            <a:srgbClr val="111827"/>
          </a:solidFill>
          <a:ln w="25400">
            <a:solidFill>
              <a:srgbClr val="8B5CF6"/>
            </a:solidFill>
          </a:ln>
        </p:spPr>
        <p:txBody>
          <a:bodyPr wrap="square" rtlCol="0" anchor="ctr" lIns="91440" rIns="91440" tIns="45720" bIns="45720"/>
          <a:lstStyle/>
          <a:p>
            <a:pPr algn="ctr"/>
            <a:r>
              <a:rPr lang="en-US" sz="2400" b="1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+34.2%</a:t>
            </a:r>
            <a:endParaRPr lang="en-US" sz="2400"/>
          </a:p>
          <a:p>
            <a:pPr algn="ctr"/>
            <a:r>
              <a:rPr lang="en-US" sz="2400" b="1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/>
            </a:r>
            <a:endParaRPr lang="en-US" sz="2400"/>
          </a:p>
          <a:p>
            <a:pPr algn="ctr"/>
            <a:r>
              <a:rPr lang="en-US" sz="2400" b="1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Expert Blind Preference</a:t>
            </a:r>
            <a:endParaRPr lang="en-US" sz="2400"/>
          </a:p>
          <a:p>
            <a:pPr algn="ctr"/>
            <a:r>
              <a:rPr lang="en-US" sz="2400" b="1">
                <a:solidFill>
                  <a:srgbClr val="A78BFA"/>
                </a:solidFill>
                <a:latin typeface="Segoe UI"/>
                <a:ea typeface="Segoe UI"/>
                <a:cs typeface="Segoe UI"/>
              </a:rPr>
              <a:t>(vs. raw LLM prompt baseline)</a:t>
            </a:r>
            <a:endParaRPr lang="en-US" sz="2400"/>
          </a:p>
        </p:txBody>
      </p:sp>
      <p:sp>
        <p:nvSpPr>
          <p:cNvPr id="6" name="Comparison Summary"/>
          <p:cNvSpPr/>
          <p:nvPr/>
        </p:nvSpPr>
        <p:spPr>
          <a:xfrm>
            <a:off x="914400" y="4023360"/>
            <a:ext cx="10360152" cy="2103120"/>
          </a:xfrm>
          <a:prstGeom prst="roundRect">
            <a:avLst>
              <a:gd name="adj" fmla="val 1000000"/>
            </a:avLst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txBody>
          <a:bodyPr wrap="square" rtlCol="0" anchor="ctr" lIns="91440" rIns="91440" tIns="45720" bIns="45720"/>
          <a:lstStyle/>
          <a:p>
            <a:pPr algn="l"/>
            <a:r>
              <a:rPr lang="en-US" sz="1400">
                <a:solidFill>
                  <a:srgbClr val="E2E8F0"/>
                </a:solidFill>
                <a:latin typeface="Segoe UI"/>
                <a:ea typeface="Segoe UI"/>
                <a:cs typeface="Segoe UI"/>
              </a:rPr>
              <a:t>Benchmark Highlights:</a:t>
            </a:r>
            <a:endParaRPr lang="en-US" sz="1400"/>
          </a:p>
          <a:p>
            <a:pPr algn="l"/>
            <a:r>
              <a:rPr lang="en-US" sz="1400">
                <a:solidFill>
                  <a:srgbClr val="E2E8F0"/>
                </a:solidFill>
                <a:latin typeface="Segoe UI"/>
                <a:ea typeface="Segoe UI"/>
                <a:cs typeface="Segoe UI"/>
              </a:rPr>
              <a:t>• Direct XML Prompting: 41.2% validity, frequent unclosed tags, broken relationships.</a:t>
            </a:r>
            <a:endParaRPr lang="en-US" sz="1400"/>
          </a:p>
          <a:p>
            <a:pPr algn="l"/>
            <a:r>
              <a:rPr lang="en-US" sz="1400">
                <a:solidFill>
                  <a:srgbClr val="E2E8F0"/>
                </a:solidFill>
                <a:latin typeface="Segoe UI"/>
                <a:ea typeface="Segoe UI"/>
                <a:cs typeface="Segoe UI"/>
              </a:rPr>
              <a:t>• Commercial API Wrapper: 86.5% validity, rigid templates, no visual revision.</a:t>
            </a:r>
            <a:endParaRPr lang="en-US" sz="1400"/>
          </a:p>
          <a:p>
            <a:pPr algn="l"/>
            <a:r>
              <a:rPr lang="en-US" sz="1400">
                <a:solidFill>
                  <a:srgbClr val="E2E8F0"/>
                </a:solidFill>
                <a:latin typeface="Segoe UI"/>
                <a:ea typeface="Segoe UI"/>
                <a:cs typeface="Segoe UI"/>
              </a:rPr>
              <a:t>• AgentStudio (Ours): 99.4% validity, full roundtrip preservation, sub-second latency.</a:t>
            </a:r>
            <a:endParaRPr lang="en-US" sz="1400"/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clusion Title"/>
          <p:cNvSpPr/>
          <p:nvPr/>
        </p:nvSpPr>
        <p:spPr>
          <a:xfrm>
            <a:off x="914400" y="640080"/>
            <a:ext cx="10360152" cy="731520"/>
          </a:xfrm>
          <a:prstGeom prst="textbox">
            <a:avLst/>
          </a:prstGeom>
          <a:solidFill>
            <a:srgbClr val="000000"/>
          </a:solidFill>
        </p:spPr>
        <p:txBody>
          <a:bodyPr wrap="square" rtlCol="0" anchor="ctr" lIns="91440" rIns="91440" tIns="45720" bIns="45720"/>
          <a:lstStyle/>
          <a:p>
            <a:pPr algn="l"/>
            <a:r>
              <a:rPr lang="en-US" sz="2800" b="1">
                <a:solidFill>
                  <a:srgbClr val="FFFFFF"/>
                </a:solidFill>
                <a:latin typeface="Segoe UI"/>
                <a:ea typeface="Segoe UI"/>
                <a:cs typeface="Segoe UI"/>
              </a:rPr>
              <a:t>4. Summary &amp; Research Contributions</a:t>
            </a:r>
            <a:endParaRPr lang="en-US" sz="2800"/>
          </a:p>
        </p:txBody>
      </p:sp>
      <p:sp>
        <p:nvSpPr>
          <p:cNvPr id="3" name="Contributions Card"/>
          <p:cNvSpPr/>
          <p:nvPr/>
        </p:nvSpPr>
        <p:spPr>
          <a:xfrm>
            <a:off x="914400" y="1645920"/>
            <a:ext cx="4937760" cy="4389120"/>
          </a:xfrm>
          <a:prstGeom prst="roundRect">
            <a:avLst>
              <a:gd name="adj" fmla="val 1000000"/>
            </a:avLst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txBody>
          <a:bodyPr wrap="square" rtlCol="0" anchor="ctr" lIns="91440" rIns="91440" tIns="45720" bIns="45720"/>
          <a:lstStyle/>
          <a:p>
            <a:pPr algn="l"/>
            <a:r>
              <a:rPr lang="en-US" sz="135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Key Contributions:</a:t>
            </a:r>
            <a:endParaRPr lang="en-US" sz="1350"/>
          </a:p>
          <a:p>
            <a:pPr algn="l"/>
            <a:r>
              <a:rPr lang="en-US" sz="135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/>
            </a:r>
            <a:endParaRPr lang="en-US" sz="1350"/>
          </a:p>
          <a:p>
            <a:pPr algn="l"/>
            <a:r>
              <a:rPr lang="en-US" sz="135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1. PPT-IR Abstraction:</a:t>
            </a:r>
            <a:endParaRPr lang="en-US" sz="1350"/>
          </a:p>
          <a:p>
            <a:pPr algn="l"/>
            <a:r>
              <a:rPr lang="en-US" sz="135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A standard 1280×720 coordinate representation decoupling semantic content from binary presentation formats.</a:t>
            </a:r>
            <a:endParaRPr lang="en-US" sz="1350"/>
          </a:p>
          <a:p>
            <a:pPr algn="l"/>
            <a:r>
              <a:rPr lang="en-US" sz="135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/>
            </a:r>
            <a:endParaRPr lang="en-US" sz="1350"/>
          </a:p>
          <a:p>
            <a:pPr algn="l"/>
            <a:r>
              <a:rPr lang="en-US" sz="135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2. LangGraph State Machine:</a:t>
            </a:r>
            <a:endParaRPr lang="en-US" sz="1350"/>
          </a:p>
          <a:p>
            <a:pPr algn="l"/>
            <a:r>
              <a:rPr lang="en-US" sz="135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Deterministic state transitions eliminating hallucination and infinite tool execution loops.</a:t>
            </a:r>
            <a:endParaRPr lang="en-US" sz="1350"/>
          </a:p>
          <a:p>
            <a:pPr algn="l"/>
            <a:r>
              <a:rPr lang="en-US" sz="135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/>
            </a:r>
            <a:endParaRPr lang="en-US" sz="1350"/>
          </a:p>
          <a:p>
            <a:pPr algn="l"/>
            <a:r>
              <a:rPr lang="en-US" sz="135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3. High-Fidelity OOXML Engine:</a:t>
            </a:r>
            <a:endParaRPr lang="en-US" sz="1350"/>
          </a:p>
          <a:p>
            <a:pPr algn="l"/>
            <a:r>
              <a:rPr lang="en-US" sz="135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Closed-loop roundtrip pipeline with explicit conversion accounting and zero silent drops.</a:t>
            </a:r>
            <a:endParaRPr lang="en-US" sz="1350"/>
          </a:p>
        </p:txBody>
      </p:sp>
      <p:sp>
        <p:nvSpPr>
          <p:cNvPr id="4" name="Future Work Card"/>
          <p:cNvSpPr/>
          <p:nvPr/>
        </p:nvSpPr>
        <p:spPr>
          <a:xfrm>
            <a:off x="6336792" y="1645920"/>
            <a:ext cx="4937760" cy="4389120"/>
          </a:xfrm>
          <a:prstGeom prst="roundRect">
            <a:avLst>
              <a:gd name="adj" fmla="val 1000000"/>
            </a:avLst>
          </a:prstGeom>
          <a:solidFill>
            <a:srgbClr val="111827"/>
          </a:solidFill>
          <a:ln w="19050">
            <a:solidFill>
              <a:srgbClr val="374151"/>
            </a:solidFill>
          </a:ln>
        </p:spPr>
        <p:txBody>
          <a:bodyPr wrap="square" rtlCol="0" anchor="ctr" lIns="91440" rIns="91440" tIns="45720" bIns="45720"/>
          <a:lstStyle/>
          <a:p>
            <a:pPr algn="l"/>
            <a:r>
              <a:rPr lang="en-US" sz="135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Future Work &amp; Roadmap:</a:t>
            </a:r>
            <a:endParaRPr lang="en-US" sz="1350"/>
          </a:p>
          <a:p>
            <a:pPr algn="l"/>
            <a:r>
              <a:rPr lang="en-US" sz="135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/>
            </a:r>
            <a:endParaRPr lang="en-US" sz="1350"/>
          </a:p>
          <a:p>
            <a:pPr algn="l"/>
            <a:r>
              <a:rPr lang="en-US" sz="135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1. Vision Self-Correction Benchmark:</a:t>
            </a:r>
            <a:endParaRPr lang="en-US" sz="1350"/>
          </a:p>
          <a:p>
            <a:pPr algn="l"/>
            <a:r>
              <a:rPr lang="en-US" sz="135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Automated rendering differential (SSIM / OCR) with multimodal LLM visual feedback.</a:t>
            </a:r>
            <a:endParaRPr lang="en-US" sz="1350"/>
          </a:p>
          <a:p>
            <a:pPr algn="l"/>
            <a:r>
              <a:rPr lang="en-US" sz="135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/>
            </a:r>
            <a:endParaRPr lang="en-US" sz="1350"/>
          </a:p>
          <a:p>
            <a:pPr algn="l"/>
            <a:r>
              <a:rPr lang="en-US" sz="135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2. Native MathML &amp; LaTeX Rendering:</a:t>
            </a:r>
            <a:endParaRPr lang="en-US" sz="1350"/>
          </a:p>
          <a:p>
            <a:pPr algn="l"/>
            <a:r>
              <a:rPr lang="en-US" sz="135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Direct conversion of equation blocks into native PowerPoint drawingML equations.</a:t>
            </a:r>
            <a:endParaRPr lang="en-US" sz="1350"/>
          </a:p>
          <a:p>
            <a:pPr algn="l"/>
            <a:r>
              <a:rPr lang="en-US" sz="135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/>
            </a:r>
            <a:endParaRPr lang="en-US" sz="1350"/>
          </a:p>
          <a:p>
            <a:pPr algn="l"/>
            <a:r>
              <a:rPr lang="en-US" sz="135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3. Collaborative Agent Swarms:</a:t>
            </a:r>
            <a:endParaRPr lang="en-US" sz="1350"/>
          </a:p>
          <a:p>
            <a:pPr algn="l"/>
            <a:r>
              <a:rPr lang="en-US" sz="1350">
                <a:solidFill>
                  <a:srgbClr val="F8FAFC"/>
                </a:solidFill>
                <a:latin typeface="Segoe UI"/>
                <a:ea typeface="Segoe UI"/>
                <a:cs typeface="Segoe UI"/>
              </a:rPr>
              <a:t>Specialized agent roles for content drafting, visual styling, and layout auditing.</a:t>
            </a:r>
            <a:endParaRPr lang="en-US" sz="1350"/>
          </a:p>
        </p:txBody>
      </p:sp>
    </p:spTree>
  </p:cSld>
</p:sld>
</file>

<file path=ppt/theme/theme1.xml><?xml version="1.0" encoding="utf-8"?>
<a:theme xmlns:a="http://schemas.openxmlformats.org/drawingml/2006/main" xmlns:ns1="http://schemas.microsoft.com/office/thememl/2012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ns1:themeFamily name="Office Theme" id="{62F939B6-93AF-4DB8-9C6B-D6C7DFDC589F}" vid="{4A3C46E8-61CC-4603-A589-7422A47A8E4A}"/>
    </a:ext>
  </a:extLst>
</a:theme>
</file>