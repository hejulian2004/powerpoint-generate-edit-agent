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548640"/>
            <a:ext cx="10360152" cy="73152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Sequential Dataflow &amp; Reversible Patch Pipeline</a:t>
            </a:r>
            <a:endParaRPr lang="en-US" sz="2600"/>
          </a:p>
        </p:txBody>
      </p:sp>
      <p:grpSp>
        <p:nvGrpSpPr>
          <p:cNvPr id="3" name="Stage 1 Group"/>
          <p:cNvGrpSpPr/>
          <p:nvPr/>
        </p:nvGrpSpPr>
        <p:grpSpPr>
          <a:xfrm>
            <a:off x="914400" y="1828800"/>
            <a:ext cx="2011680" cy="1645920"/>
            <a:chOff x="914400" y="1828800"/>
            <a:chExt cx="2011680" cy="1645920"/>
          </a:xfrm>
        </p:grpSpPr>
        <p:sp>
          <p:nvSpPr>
            <p:cNvPr id="4" name="Stage 1 Box"/>
            <p:cNvSpPr/>
            <p:nvPr/>
          </p:nvSpPr>
          <p:spPr>
            <a:xfrm>
              <a:off x="914400" y="1828800"/>
              <a:ext cx="2011680" cy="16459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38BDF8"/>
              </a:solidFill>
            </a:ln>
          </p:spPr>
        </p:sp>
        <p:sp>
          <p:nvSpPr>
            <p:cNvPr id="5" name="Stage 1 Text"/>
            <p:cNvSpPr/>
            <p:nvPr/>
          </p:nvSpPr>
          <p:spPr>
            <a:xfrm>
              <a:off x="1005840" y="1920240"/>
              <a:ext cx="1828800" cy="146304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Input Data</a:t>
              </a:r>
              <a:endParaRPr lang="en-US" sz="1400"/>
            </a:p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(OOXML Package)</a:t>
              </a:r>
              <a:endParaRPr lang="en-US" sz="1400"/>
            </a:p>
          </p:txBody>
        </p:sp>
      </p:grpSp>
      <p:grpSp>
        <p:nvGrpSpPr>
          <p:cNvPr id="6" name="Stage 2 Group"/>
          <p:cNvGrpSpPr/>
          <p:nvPr/>
        </p:nvGrpSpPr>
        <p:grpSpPr>
          <a:xfrm>
            <a:off x="3657600" y="1828800"/>
            <a:ext cx="2011680" cy="1645920"/>
            <a:chOff x="3657600" y="1828800"/>
            <a:chExt cx="2011680" cy="1645920"/>
          </a:xfrm>
        </p:grpSpPr>
        <p:sp>
          <p:nvSpPr>
            <p:cNvPr id="7" name="Stage 2 Box"/>
            <p:cNvSpPr/>
            <p:nvPr/>
          </p:nvSpPr>
          <p:spPr>
            <a:xfrm>
              <a:off x="3657600" y="1828800"/>
              <a:ext cx="2011680" cy="16459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818CF8"/>
              </a:solidFill>
            </a:ln>
          </p:spPr>
        </p:sp>
        <p:sp>
          <p:nvSpPr>
            <p:cNvPr id="8" name="Stage 2 Text"/>
            <p:cNvSpPr/>
            <p:nvPr/>
          </p:nvSpPr>
          <p:spPr>
            <a:xfrm>
              <a:off x="3749040" y="1920240"/>
              <a:ext cx="1828800" cy="146304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PPT-IR Model</a:t>
              </a:r>
              <a:endParaRPr lang="en-US" sz="1400"/>
            </a:p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(1280×720 Canvas)</a:t>
              </a:r>
              <a:endParaRPr lang="en-US" sz="1400"/>
            </a:p>
          </p:txBody>
        </p:sp>
      </p:grpSp>
      <p:grpSp>
        <p:nvGrpSpPr>
          <p:cNvPr id="9" name="Stage 3 Group"/>
          <p:cNvGrpSpPr/>
          <p:nvPr/>
        </p:nvGrpSpPr>
        <p:grpSpPr>
          <a:xfrm>
            <a:off x="6400800" y="1828800"/>
            <a:ext cx="2011680" cy="1645920"/>
            <a:chOff x="6400800" y="1828800"/>
            <a:chExt cx="2011680" cy="1645920"/>
          </a:xfrm>
        </p:grpSpPr>
        <p:sp>
          <p:nvSpPr>
            <p:cNvPr id="10" name="Stage 3 Box"/>
            <p:cNvSpPr/>
            <p:nvPr/>
          </p:nvSpPr>
          <p:spPr>
            <a:xfrm>
              <a:off x="6400800" y="1828800"/>
              <a:ext cx="2011680" cy="16459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34D399"/>
              </a:solidFill>
            </a:ln>
          </p:spPr>
        </p:sp>
        <p:sp>
          <p:nvSpPr>
            <p:cNvPr id="11" name="Stage 3 Text"/>
            <p:cNvSpPr/>
            <p:nvPr/>
          </p:nvSpPr>
          <p:spPr>
            <a:xfrm>
              <a:off x="6492240" y="1920240"/>
              <a:ext cx="1828800" cy="146304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Agent Mutation</a:t>
              </a:r>
              <a:endParaRPr lang="en-US" sz="1400"/>
            </a:p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(Patch Engine)</a:t>
              </a:r>
              <a:endParaRPr lang="en-US" sz="1400"/>
            </a:p>
          </p:txBody>
        </p:sp>
      </p:grpSp>
      <p:grpSp>
        <p:nvGrpSpPr>
          <p:cNvPr id="12" name="Stage 4 Group"/>
          <p:cNvGrpSpPr/>
          <p:nvPr/>
        </p:nvGrpSpPr>
        <p:grpSpPr>
          <a:xfrm>
            <a:off x="9144000" y="1828800"/>
            <a:ext cx="2011680" cy="1645920"/>
            <a:chOff x="9144000" y="1828800"/>
            <a:chExt cx="2011680" cy="1645920"/>
          </a:xfrm>
        </p:grpSpPr>
        <p:sp>
          <p:nvSpPr>
            <p:cNvPr id="13" name="Stage 4 Box"/>
            <p:cNvSpPr/>
            <p:nvPr/>
          </p:nvSpPr>
          <p:spPr>
            <a:xfrm>
              <a:off x="9144000" y="1828800"/>
              <a:ext cx="2011680" cy="16459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F43F5E"/>
              </a:solidFill>
            </a:ln>
          </p:spPr>
        </p:sp>
        <p:sp>
          <p:nvSpPr>
            <p:cNvPr id="14" name="Stage 4 Text"/>
            <p:cNvSpPr/>
            <p:nvPr/>
          </p:nvSpPr>
          <p:spPr>
            <a:xfrm>
              <a:off x="9235440" y="1920240"/>
              <a:ext cx="1828800" cy="146304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Reconstructed</a:t>
              </a:r>
              <a:endParaRPr lang="en-US" sz="1400"/>
            </a:p>
            <a:p>
              <a:pPr algn="ctr"/>
              <a:r>
                <a:rPr lang="en-US" sz="1400" b="1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PowerPoint PPTX</a:t>
              </a:r>
              <a:endParaRPr lang="en-US" sz="1400"/>
            </a:p>
          </p:txBody>
        </p:sp>
      </p:grpSp>
      <p:cxnSp>
        <p:nvCxnSpPr>
          <p:cNvPr id="15" name="C1-&gt;2"/>
          <p:cNvCxnSpPr/>
          <p:nvPr/>
        </p:nvCxnSpPr>
        <p:spPr>
          <a:xfrm>
            <a:off x="2926080" y="2651760"/>
            <a:ext cx="731520" cy="0"/>
          </a:xfrm>
          <a:prstGeom prst="straightConnector1">
            <a:avLst/>
          </a:prstGeom>
          <a:ln w="25400">
            <a:solidFill>
              <a:srgbClr val="60A5FA"/>
            </a:solidFill>
            <a:headEnd type="triangle" w="med" len="med"/>
          </a:ln>
        </p:spPr>
      </p:cxnSp>
      <p:cxnSp>
        <p:nvCxnSpPr>
          <p:cNvPr id="16" name="C2-&gt;3"/>
          <p:cNvCxnSpPr/>
          <p:nvPr/>
        </p:nvCxnSpPr>
        <p:spPr>
          <a:xfrm>
            <a:off x="5669280" y="2651760"/>
            <a:ext cx="731520" cy="0"/>
          </a:xfrm>
          <a:prstGeom prst="straightConnector1">
            <a:avLst/>
          </a:prstGeom>
          <a:ln w="25400">
            <a:solidFill>
              <a:srgbClr val="60A5FA"/>
            </a:solidFill>
            <a:headEnd type="triangle" w="med" len="med"/>
          </a:ln>
        </p:spPr>
      </p:cxnSp>
      <p:cxnSp>
        <p:nvCxnSpPr>
          <p:cNvPr id="17" name="C3-&gt;4"/>
          <p:cNvCxnSpPr/>
          <p:nvPr/>
        </p:nvCxnSpPr>
        <p:spPr>
          <a:xfrm>
            <a:off x="8412480" y="2651760"/>
            <a:ext cx="731520" cy="0"/>
          </a:xfrm>
          <a:prstGeom prst="straightConnector1">
            <a:avLst/>
          </a:prstGeom>
          <a:ln w="25400">
            <a:solidFill>
              <a:srgbClr val="60A5FA"/>
            </a:solidFill>
            <a:headEnd type="triangle" w="med" len="med"/>
          </a:ln>
        </p:spPr>
      </p:cxnSp>
      <p:sp>
        <p:nvSpPr>
          <p:cNvPr id="18" name="Validation Gate"/>
          <p:cNvSpPr/>
          <p:nvPr/>
        </p:nvSpPr>
        <p:spPr>
          <a:xfrm>
            <a:off x="5029200" y="4114800"/>
            <a:ext cx="2130552" cy="1645920"/>
          </a:xfrm>
          <a:prstGeom prst="diamond">
            <a:avLst/>
          </a:prstGeom>
          <a:solidFill>
            <a:srgbClr val="312E81"/>
          </a:solidFill>
          <a:ln w="19050">
            <a:solidFill>
              <a:srgbClr val="818CF8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</a:t>
            </a:r>
            <a:endParaRPr lang="en-US" sz="1300"/>
          </a:p>
          <a:p>
            <a:pPr algn="ctr"/>
            <a:r>
              <a:rPr lang="en-US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ECMA-376?</a:t>
            </a:r>
            <a:endParaRPr lang="en-US" sz="1300"/>
          </a:p>
        </p:txBody>
      </p:sp>
      <p:cxnSp>
        <p:nvCxnSpPr>
          <p:cNvPr id="19" name="C3-&gt;Gate"/>
          <p:cNvCxnSpPr/>
          <p:nvPr/>
        </p:nvCxnSpPr>
        <p:spPr>
          <a:xfrm flipH="1">
            <a:off x="6089904" y="3474720"/>
            <a:ext cx="1316736" cy="640080"/>
          </a:xfrm>
          <a:prstGeom prst="curvedConnector3">
            <a:avLst/>
          </a:prstGeom>
          <a:ln w="19050">
            <a:solidFill>
              <a:srgbClr val="818CF8"/>
            </a:solidFill>
            <a:headEnd type="triangle" w="med" len="med"/>
          </a:ln>
        </p:spPr>
      </p:cxnSp>
      <p:cxnSp>
        <p:nvCxnSpPr>
          <p:cNvPr id="20" name="Gate-&gt;Pass"/>
          <p:cNvCxnSpPr/>
          <p:nvPr/>
        </p:nvCxnSpPr>
        <p:spPr>
          <a:xfrm flipV="1">
            <a:off x="7159752" y="2651760"/>
            <a:ext cx="1984248" cy="2286000"/>
          </a:xfrm>
          <a:prstGeom prst="curvedConnector3">
            <a:avLst/>
          </a:prstGeom>
          <a:ln w="19050">
            <a:solidFill>
              <a:srgbClr val="34D399"/>
            </a:solidFill>
            <a:headEnd type="triangle" w="med" len="med"/>
          </a:ln>
        </p:spPr>
      </p:cxn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