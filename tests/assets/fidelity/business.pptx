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svg" ContentType="image/svg+xml"/>
  <Default Extension="gif" ContentType="image/gif"/>
  <Default Extension="bmp" ContentType="image/bmp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Slide1"/>
  </p:sldIdLst>
  <p:sldSz cx="12191695" cy="6858000"/>
  <p:notesSz cx="6858000" cy="9144000"/>
  <p:defaultTextStyle/>
</p:presentation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Slide1" Type="http://schemas.openxmlformats.org/officeDocument/2006/relationships/slide" Target="slides/slide1.xml" /></Relationship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Layout1" Type="http://schemas.openxmlformats.org/officeDocument/2006/relationships/slideLayout" Target="../slideLayouts/slideLayout1.xml" /><Relationship Id="rIdTheme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  <p:txStyles>
    <p:titleStyle/>
    <p:bodyStyle/>
    <p:otherStyle/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Header Banner"/>
          <p:cNvSpPr/>
          <p:nvPr/>
        </p:nvSpPr>
        <p:spPr>
          <a:xfrm>
            <a:off x="0" y="0"/>
            <a:ext cx="12191695" cy="1524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Slide Title"/>
          <p:cNvSpPr/>
          <p:nvPr/>
        </p:nvSpPr>
        <p:spPr>
          <a:xfrm>
            <a:off x="666733" y="476250"/>
            <a:ext cx="6667333" cy="476250"/>
          </a:xfrm>
          <a:prstGeom prst="textbox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>
              <a:lnSpc>
                <a:spcPct val="120000"/>
              </a:lnSpc>
            </a:pPr>
            <a:r>
              <a:rPr lang="en-US" sz="1950" b="1">
                <a:solidFill>
                  <a:srgbClr val="0F172A"/>
                </a:solidFill>
                <a:latin typeface="Segoe UI"/>
                <a:ea typeface="Segoe UI"/>
                <a:cs typeface="Segoe UI"/>
              </a:rPr>
              <a:t>Q3 2026 Executive Financial Summary</a:t>
            </a:r>
            <a:endParaRPr lang="en-US" sz="1950"/>
          </a:p>
        </p:txBody>
      </p:sp>
      <p:sp>
        <p:nvSpPr>
          <p:cNvPr id="4" name="Metric Card $14.8M"/>
          <p:cNvSpPr/>
          <p:nvPr/>
        </p:nvSpPr>
        <p:spPr>
          <a:xfrm>
            <a:off x="666733" y="1238250"/>
            <a:ext cx="3238419" cy="1333500"/>
          </a:xfrm>
          <a:prstGeom prst="roundRect">
            <a:avLst>
              <a:gd name="adj" fmla="val 1000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</p:sp>
      <p:sp>
        <p:nvSpPr>
          <p:cNvPr id="5" name="Metric Value $14.8M"/>
          <p:cNvSpPr/>
          <p:nvPr/>
        </p:nvSpPr>
        <p:spPr>
          <a:xfrm>
            <a:off x="857229" y="1381125"/>
            <a:ext cx="2857429" cy="571500"/>
          </a:xfrm>
          <a:prstGeom prst="textbox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rgbClr val="2563EB"/>
                </a:solidFill>
                <a:latin typeface="Segoe UI"/>
                <a:ea typeface="Segoe UI"/>
                <a:cs typeface="Segoe UI"/>
              </a:rPr>
              <a:t>$14.8M</a:t>
            </a:r>
            <a:endParaRPr lang="en-US" sz="2400"/>
          </a:p>
        </p:txBody>
      </p:sp>
      <p:sp>
        <p:nvSpPr>
          <p:cNvPr id="6" name="Metric Label ARR Growth"/>
          <p:cNvSpPr/>
          <p:nvPr/>
        </p:nvSpPr>
        <p:spPr>
          <a:xfrm>
            <a:off x="857229" y="2047875"/>
            <a:ext cx="2857429" cy="285750"/>
          </a:xfrm>
          <a:prstGeom prst="textbox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>
              <a:lnSpc>
                <a:spcPct val="120000"/>
              </a:lnSpc>
            </a:pPr>
            <a:r>
              <a:rPr lang="en-US" sz="105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ARR Growth</a:t>
            </a:r>
            <a:endParaRPr lang="en-US" sz="1050"/>
          </a:p>
        </p:txBody>
      </p:sp>
      <p:sp>
        <p:nvSpPr>
          <p:cNvPr id="7" name="Metric Card 142%"/>
          <p:cNvSpPr/>
          <p:nvPr/>
        </p:nvSpPr>
        <p:spPr>
          <a:xfrm>
            <a:off x="4190895" y="1238250"/>
            <a:ext cx="3238419" cy="1333500"/>
          </a:xfrm>
          <a:prstGeom prst="roundRect">
            <a:avLst>
              <a:gd name="adj" fmla="val 1000000"/>
            </a:avLst>
          </a:prstGeom>
          <a:solidFill>
            <a:srgbClr val="FFFFFF"/>
          </a:solidFill>
          <a:ln w="19050">
            <a:solidFill>
              <a:srgbClr val="059669"/>
            </a:solidFill>
          </a:ln>
        </p:spPr>
      </p:sp>
      <p:sp>
        <p:nvSpPr>
          <p:cNvPr id="8" name="Metric Value 142%"/>
          <p:cNvSpPr/>
          <p:nvPr/>
        </p:nvSpPr>
        <p:spPr>
          <a:xfrm>
            <a:off x="4381390" y="1381125"/>
            <a:ext cx="2857429" cy="571500"/>
          </a:xfrm>
          <a:prstGeom prst="textbox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rgbClr val="059669"/>
                </a:solidFill>
                <a:latin typeface="Segoe UI"/>
                <a:ea typeface="Segoe UI"/>
                <a:cs typeface="Segoe UI"/>
              </a:rPr>
              <a:t>142%</a:t>
            </a:r>
            <a:endParaRPr lang="en-US" sz="2400"/>
          </a:p>
        </p:txBody>
      </p:sp>
      <p:sp>
        <p:nvSpPr>
          <p:cNvPr id="9" name="Metric Label Net Dollar Retention"/>
          <p:cNvSpPr/>
          <p:nvPr/>
        </p:nvSpPr>
        <p:spPr>
          <a:xfrm>
            <a:off x="4381390" y="2047875"/>
            <a:ext cx="2857429" cy="285750"/>
          </a:xfrm>
          <a:prstGeom prst="textbox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>
              <a:lnSpc>
                <a:spcPct val="120000"/>
              </a:lnSpc>
            </a:pPr>
            <a:r>
              <a:rPr lang="en-US" sz="105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Net Dollar Retention</a:t>
            </a:r>
            <a:endParaRPr lang="en-US" sz="1050"/>
          </a:p>
        </p:txBody>
      </p:sp>
      <p:sp>
        <p:nvSpPr>
          <p:cNvPr id="10" name="Metric Card 99.98%"/>
          <p:cNvSpPr/>
          <p:nvPr/>
        </p:nvSpPr>
        <p:spPr>
          <a:xfrm>
            <a:off x="7715057" y="1238250"/>
            <a:ext cx="3238419" cy="1333500"/>
          </a:xfrm>
          <a:prstGeom prst="roundRect">
            <a:avLst>
              <a:gd name="adj" fmla="val 1000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</p:spPr>
      </p:sp>
      <p:sp>
        <p:nvSpPr>
          <p:cNvPr id="11" name="Metric Value 99.98%"/>
          <p:cNvSpPr/>
          <p:nvPr/>
        </p:nvSpPr>
        <p:spPr>
          <a:xfrm>
            <a:off x="7905552" y="1381125"/>
            <a:ext cx="2857429" cy="571500"/>
          </a:xfrm>
          <a:prstGeom prst="textbox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rgbClr val="7C3AED"/>
                </a:solidFill>
                <a:latin typeface="Segoe UI"/>
                <a:ea typeface="Segoe UI"/>
                <a:cs typeface="Segoe UI"/>
              </a:rPr>
              <a:t>99.98%</a:t>
            </a:r>
            <a:endParaRPr lang="en-US" sz="2400"/>
          </a:p>
        </p:txBody>
      </p:sp>
      <p:sp>
        <p:nvSpPr>
          <p:cNvPr id="12" name="Metric Label Platform Availability"/>
          <p:cNvSpPr/>
          <p:nvPr/>
        </p:nvSpPr>
        <p:spPr>
          <a:xfrm>
            <a:off x="7905552" y="2047875"/>
            <a:ext cx="2857429" cy="285750"/>
          </a:xfrm>
          <a:prstGeom prst="textbox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>
              <a:lnSpc>
                <a:spcPct val="120000"/>
              </a:lnSpc>
            </a:pPr>
            <a:r>
              <a:rPr lang="en-US" sz="1050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Platform Availability</a:t>
            </a:r>
            <a:endParaRPr lang="en-US" sz="1050"/>
          </a:p>
        </p:txBody>
      </p:sp>
      <p:sp>
        <p:nvSpPr>
          <p:cNvPr id="13" name="Key Drivers"/>
          <p:cNvSpPr/>
          <p:nvPr/>
        </p:nvSpPr>
        <p:spPr>
          <a:xfrm>
            <a:off x="666733" y="3048000"/>
            <a:ext cx="9524762" cy="2095500"/>
          </a:xfrm>
          <a:prstGeom prst="textbox">
            <a:avLst/>
          </a:prstGeom>
          <a:noFill/>
        </p:spPr>
        <p:txBody>
          <a:bodyPr wrap="square" rtlCol="0" anchor="ctr" lIns="91440" rIns="91440" tIns="45720" bIns="45720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Key Strategic Drivers:</a:t>
            </a:r>
            <a:endParaRPr lang="en-US" sz="1200"/>
          </a:p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/>
            </a:r>
            <a:endParaRPr lang="en-US" sz="1200"/>
          </a:p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• Enterprise expansion accelerated, adding 24 Fortune 500 customers.</a:t>
            </a:r>
            <a:endParaRPr lang="en-US" sz="1200"/>
          </a:p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• Gross margins expanded to 81.2% driven by inference cost optimizations.</a:t>
            </a:r>
            <a:endParaRPr lang="en-US" sz="1200"/>
          </a:p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• Positive operating cash flow achieved two quarters ahead of plan.</a:t>
            </a:r>
            <a:endParaRPr lang="en-US" sz="1200"/>
          </a:p>
        </p:txBody>
      </p:sp>
    </p:spTree>
  </p:cSld>
</p:sld>
</file>

<file path=ppt/theme/theme1.xml><?xml version="1.0" encoding="utf-8"?>
<a:theme xmlns:a="http://schemas.openxmlformats.org/drawingml/2006/main" xmlns:ns1="http://schemas.microsoft.com/office/thememl/2012/main" name="Modern Clean">
  <a:themeElements>
    <a:clrScheme name="Office">
      <a:dk1>
        <a:sysClr val="windowText" lastClr="0F172A"/>
      </a:dk1>
      <a:lt1>
        <a:sysClr val="window" lastClr="FFFFFF"/>
      </a:lt1>
      <a:dk2>
        <a:srgbClr val="334155"/>
      </a:dk2>
      <a:lt2>
        <a:srgbClr val="F8FAFC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ns1:themeFamily name="Office Theme" id="{62F939B6-93AF-4DB8-9C6B-D6C7DFDC589F}" vid="{4A3C46E8-61CC-4603-A589-7422A47A8E4A}"/>
    </a:ext>
  </a:extLst>
</a:theme>
</file>