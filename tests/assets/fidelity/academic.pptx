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761981" y="381000"/>
            <a:ext cx="7619809" cy="5715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Quantum Error Correction in Neutral Atom Arrays</a:t>
            </a:r>
            <a:endParaRPr lang="en-US" sz="2100"/>
          </a:p>
        </p:txBody>
      </p:sp>
      <p:sp>
        <p:nvSpPr>
          <p:cNvPr id="3" name="Subtitle"/>
          <p:cNvSpPr/>
          <p:nvPr/>
        </p:nvSpPr>
        <p:spPr>
          <a:xfrm>
            <a:off x="761981" y="1000125"/>
            <a:ext cx="7619809" cy="333375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35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Experimental Implementation and Scalability Analysis</a:t>
            </a:r>
            <a:endParaRPr lang="en-US" sz="1350"/>
          </a:p>
        </p:txBody>
      </p:sp>
      <p:sp>
        <p:nvSpPr>
          <p:cNvPr id="4" name="Left Column Text"/>
          <p:cNvSpPr/>
          <p:nvPr/>
        </p:nvSpPr>
        <p:spPr>
          <a:xfrm>
            <a:off x="761981" y="1619250"/>
            <a:ext cx="4762381" cy="26670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12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Fault-tolerant quantum computing requires quantum error correction (QEC)</a:t>
            </a:r>
            <a:endParaRPr lang="en-US" sz="1120"/>
          </a:p>
          <a:p>
            <a:pPr algn="l">
              <a:lnSpc>
                <a:spcPct val="120000"/>
              </a:lnSpc>
            </a:pPr>
            <a:r>
              <a:rPr lang="en-US" sz="112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to achieve logical failure rates below physical error thresholds.</a:t>
            </a:r>
            <a:endParaRPr lang="en-US" sz="1120"/>
          </a:p>
          <a:p>
            <a:pPr algn="l">
              <a:lnSpc>
                <a:spcPct val="120000"/>
              </a:lnSpc>
            </a:pPr>
            <a:r>
              <a:rPr lang="en-US" sz="112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lang="en-US" sz="1120"/>
          </a:p>
          <a:p>
            <a:pPr algn="l">
              <a:lnSpc>
                <a:spcPct val="120000"/>
              </a:lnSpc>
            </a:pPr>
            <a:r>
              <a:rPr lang="en-US" sz="112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Scalable architecture with dual-species Rydberg atoms</a:t>
            </a:r>
            <a:endParaRPr lang="en-US" sz="1120"/>
          </a:p>
          <a:p>
            <a:pPr algn="l">
              <a:lnSpc>
                <a:spcPct val="120000"/>
              </a:lnSpc>
            </a:pPr>
            <a:r>
              <a:rPr lang="en-US" sz="112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Real-time syndrome decoding with FPGA pipeline</a:t>
            </a:r>
            <a:endParaRPr lang="en-US" sz="1120"/>
          </a:p>
          <a:p>
            <a:pPr algn="l">
              <a:lnSpc>
                <a:spcPct val="120000"/>
              </a:lnSpc>
            </a:pPr>
            <a:r>
              <a:rPr lang="en-US" sz="112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Demonstrated transversal non-Clifford gate teleportation</a:t>
            </a:r>
            <a:endParaRPr lang="en-US" sz="1120"/>
          </a:p>
        </p:txBody>
      </p:sp>
      <p:sp>
        <p:nvSpPr>
          <p:cNvPr id="5" name="Callout Card"/>
          <p:cNvSpPr/>
          <p:nvPr/>
        </p:nvSpPr>
        <p:spPr>
          <a:xfrm>
            <a:off x="5905352" y="1619250"/>
            <a:ext cx="2857429" cy="2476500"/>
          </a:xfrm>
          <a:prstGeom prst="roundRect">
            <a:avLst>
              <a:gd name="adj" fmla="val 800000"/>
            </a:avLst>
          </a:prstGeom>
          <a:solidFill>
            <a:srgbClr val="F8FAFC"/>
          </a:solidFill>
          <a:ln w="14224">
            <a:solidFill>
              <a:srgbClr val="CBD5E1"/>
            </a:solidFill>
          </a:ln>
        </p:spPr>
      </p:sp>
      <p:sp>
        <p:nvSpPr>
          <p:cNvPr id="6" name="Callout Text"/>
          <p:cNvSpPr/>
          <p:nvPr/>
        </p:nvSpPr>
        <p:spPr>
          <a:xfrm>
            <a:off x="6095848" y="1809750"/>
            <a:ext cx="2476438" cy="20955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0369A1"/>
                </a:solidFill>
                <a:latin typeface="Segoe UI"/>
                <a:ea typeface="Segoe UI"/>
                <a:cs typeface="Segoe UI"/>
              </a:rPr>
              <a:t>Key Breakthrough:</a:t>
            </a:r>
            <a:endParaRPr lang="en-US" sz="1050"/>
          </a:p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0369A1"/>
                </a:solidFill>
                <a:latin typeface="Segoe UI"/>
                <a:ea typeface="Segoe UI"/>
                <a:cs typeface="Segoe UI"/>
              </a:rPr>
              <a:t/>
            </a:r>
            <a:endParaRPr lang="en-US" sz="1050"/>
          </a:p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0369A1"/>
                </a:solidFill>
                <a:latin typeface="Segoe UI"/>
                <a:ea typeface="Segoe UI"/>
                <a:cs typeface="Segoe UI"/>
              </a:rPr>
              <a:t>Physical qubit coherence times extended by 3.8x under dynamic dynamical decoupling.</a:t>
            </a:r>
            <a:endParaRPr lang="en-US" sz="1050"/>
          </a:p>
        </p:txBody>
      </p:sp>
      <p:sp>
        <p:nvSpPr>
          <p:cNvPr id="7" name="Footer Note"/>
          <p:cNvSpPr/>
          <p:nvPr/>
        </p:nvSpPr>
        <p:spPr>
          <a:xfrm>
            <a:off x="761981" y="6286500"/>
            <a:ext cx="7619809" cy="2857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75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Nature Physics 2026; DOI: 10.1038/s41567-026-0001</a:t>
            </a:r>
            <a:endParaRPr lang="en-US" sz="750"/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Modern Clean">
  <a:themeElements>
    <a:clrScheme name="Office">
      <a:dk1>
        <a:sysClr val="windowText" lastClr="0F172A"/>
      </a:dk1>
      <a:lt1>
        <a:sysClr val="window" lastClr="FFFFFF"/>
      </a:lt1>
      <a:dk2>
        <a:srgbClr val="334155"/>
      </a:dk2>
      <a:lt2>
        <a:srgbClr val="F8FAFC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