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svg" ContentType="image/svg+xml"/>
  <Default Extension="gif" ContentType="image/gif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Slide1"/>
  </p:sldIdLst>
  <p:sldSz cx="12191695" cy="6858000"/>
  <p:notesSz cx="6858000" cy="9144000"/>
  <p:defaultTextStyle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Slide1" Type="http://schemas.openxmlformats.org/officeDocument/2006/relationships/slide" Target="slides/slide1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Layout1" Type="http://schemas.openxmlformats.org/officeDocument/2006/relationships/slideLayout" Target="../slideLayouts/slideLayout1.xml" /><Relationship Id="rIdTheme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Img2" Type="http://schemas.openxmlformats.org/officeDocument/2006/relationships/image" Target="../media/fig1.png" /><Relationship Id="rIdImg3" Type="http://schemas.openxmlformats.org/officeDocument/2006/relationships/image" Target="../media/fig2.png" /><Relationship Id="rIdImg4" Type="http://schemas.openxmlformats.org/officeDocument/2006/relationships/image" Target="../media/fig3.png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14400" y="640080"/>
            <a:ext cx="10360152" cy="731520"/>
          </a:xfrm>
          <a:prstGeom prst="textbox">
            <a:avLst/>
          </a:prstGeom>
          <a:solidFill>
            <a:srgbClr val="000000"/>
          </a:solidFill>
        </p:spPr>
        <p:txBody>
          <a:bodyPr wrap="square" rtlCol="0" anchor="ctr" lIns="91440" rIns="91440" tIns="45720" bIns="4572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Multi-Asset Qualitative Visual Inspection</a:t>
            </a:r>
            <a:endParaRPr lang="en-US" sz="2800"/>
          </a:p>
        </p:txBody>
      </p:sp>
      <p:pic>
        <p:nvPicPr>
          <p:cNvPr id="3" name="Figure 1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914400" y="1645920"/>
            <a:ext cx="3200400" cy="2743200"/>
          </a:xfrm>
          <a:prstGeom prst="rect">
            <a:avLst/>
          </a:prstGeom>
        </p:spPr>
      </p:pic>
      <p:sp>
        <p:nvSpPr>
          <p:cNvPr id="4" name="Caption 1"/>
          <p:cNvSpPr/>
          <p:nvPr/>
        </p:nvSpPr>
        <p:spPr>
          <a:xfrm>
            <a:off x="914400" y="4480560"/>
            <a:ext cx="3200400" cy="914400"/>
          </a:xfrm>
          <a:prstGeom prst="textbox">
            <a:avLst/>
          </a:prstGeom>
          <a:solidFill>
            <a:srgbClr val="000000"/>
          </a:solidFill>
        </p:spPr>
        <p:txBody>
          <a:bodyPr wrap="square" rtlCol="0" anchor="ctr" lIns="91440" rIns="91440" tIns="45720" bIns="45720"/>
          <a:lstStyle/>
          <a:p>
            <a:pPr algn="l"/>
            <a:r>
              <a:rPr lang="en-US" sz="120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Figure 1: Attention Map</a:t>
            </a:r>
            <a:endParaRPr lang="en-US" sz="1200"/>
          </a:p>
          <a:p>
            <a:pPr algn="l"/>
            <a:r>
              <a:rPr lang="en-US" sz="120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Spatial weight distribution across layers.</a:t>
            </a:r>
            <a:endParaRPr lang="en-US" sz="1200"/>
          </a:p>
        </p:txBody>
      </p:sp>
      <p:pic>
        <p:nvPicPr>
          <p:cNvPr id="5" name="Figure 2"/>
          <p:cNvPicPr>
            <a:picLocks noChangeAspect="1"/>
          </p:cNvPicPr>
          <p:nvPr/>
        </p:nvPicPr>
        <p:blipFill>
          <a:blip r:embed="rIdImg3"/>
          <a:stretch>
            <a:fillRect/>
          </a:stretch>
        </p:blipFill>
        <p:spPr>
          <a:xfrm>
            <a:off x="4489704" y="1645920"/>
            <a:ext cx="3200400" cy="2743200"/>
          </a:xfrm>
          <a:prstGeom prst="rect">
            <a:avLst/>
          </a:prstGeom>
        </p:spPr>
      </p:pic>
      <p:sp>
        <p:nvSpPr>
          <p:cNvPr id="6" name="Caption 2"/>
          <p:cNvSpPr/>
          <p:nvPr/>
        </p:nvSpPr>
        <p:spPr>
          <a:xfrm>
            <a:off x="4489704" y="4480560"/>
            <a:ext cx="3200400" cy="914400"/>
          </a:xfrm>
          <a:prstGeom prst="textbox">
            <a:avLst/>
          </a:prstGeom>
          <a:solidFill>
            <a:srgbClr val="000000"/>
          </a:solidFill>
        </p:spPr>
        <p:txBody>
          <a:bodyPr wrap="square" rtlCol="0" anchor="ctr" lIns="91440" rIns="91440" tIns="45720" bIns="45720"/>
          <a:lstStyle/>
          <a:p>
            <a:pPr algn="l"/>
            <a:r>
              <a:rPr lang="en-US" sz="120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Figure 2: Vector Reconstruction</a:t>
            </a:r>
            <a:endParaRPr lang="en-US" sz="1200"/>
          </a:p>
          <a:p>
            <a:pPr algn="l"/>
            <a:r>
              <a:rPr lang="en-US" sz="120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Direct OOXML DrawingML fidelity comparison.</a:t>
            </a:r>
            <a:endParaRPr lang="en-US" sz="1200"/>
          </a:p>
        </p:txBody>
      </p:sp>
      <p:pic>
        <p:nvPicPr>
          <p:cNvPr id="7" name="Figure 3"/>
          <p:cNvPicPr>
            <a:picLocks noChangeAspect="1"/>
          </p:cNvPicPr>
          <p:nvPr/>
        </p:nvPicPr>
        <p:blipFill>
          <a:blip r:embed="rIdImg4"/>
          <a:stretch>
            <a:fillRect/>
          </a:stretch>
        </p:blipFill>
        <p:spPr>
          <a:xfrm>
            <a:off x="8074152" y="1645920"/>
            <a:ext cx="3200400" cy="2743200"/>
          </a:xfrm>
          <a:prstGeom prst="rect">
            <a:avLst/>
          </a:prstGeom>
        </p:spPr>
      </p:pic>
      <p:sp>
        <p:nvSpPr>
          <p:cNvPr id="8" name="Caption 3"/>
          <p:cNvSpPr/>
          <p:nvPr/>
        </p:nvSpPr>
        <p:spPr>
          <a:xfrm>
            <a:off x="8074152" y="4480560"/>
            <a:ext cx="3200400" cy="914400"/>
          </a:xfrm>
          <a:prstGeom prst="textbox">
            <a:avLst/>
          </a:prstGeom>
          <a:solidFill>
            <a:srgbClr val="000000"/>
          </a:solidFill>
        </p:spPr>
        <p:txBody>
          <a:bodyPr wrap="square" rtlCol="0" anchor="ctr" lIns="91440" rIns="91440" tIns="45720" bIns="45720"/>
          <a:lstStyle/>
          <a:p>
            <a:pPr algn="l"/>
            <a:r>
              <a:rPr lang="en-US" sz="120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Figure 3: Ablation Results</a:t>
            </a:r>
            <a:endParaRPr lang="en-US" sz="1200"/>
          </a:p>
          <a:p>
            <a:pPr algn="l"/>
            <a:r>
              <a:rPr lang="en-US" sz="120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Structural layout balance under visual feedback.</a:t>
            </a:r>
            <a:endParaRPr lang="en-US" sz="1200"/>
          </a:p>
        </p:txBody>
      </p:sp>
    </p:spTree>
  </p:cSld>
</p:sld>
</file>

<file path=ppt/theme/theme1.xml><?xml version="1.0" encoding="utf-8"?>
<a:theme xmlns:a="http://schemas.openxmlformats.org/drawingml/2006/main" xmlns:ns1="http://schemas.microsoft.com/office/thememl/2012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