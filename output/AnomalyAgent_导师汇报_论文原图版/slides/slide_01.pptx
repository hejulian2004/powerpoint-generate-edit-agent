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3" name="Shape 3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466344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0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1" name="Shape 11"/>
          <p:cNvSpPr/>
          <p:nvPr/>
        </p:nvSpPr>
        <p:spPr>
          <a:xfrm>
            <a:off x="813816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2" name="Shape 12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3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4" name="Shape 14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5" name="Shape 15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6" name="Shape 16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7" name="Shape 17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8" name="Shape 18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9" name="Shape 19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20" name="Shape 20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21" name="Shape 21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22" name="Shape 22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23" name="Shape 23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24" name="Shape 24"/>
          <p:cNvSpPr/>
          <p:nvPr/>
        </p:nvSpPr>
        <p:spPr>
          <a:xfrm>
            <a:off x="749808" y="1051560"/>
            <a:ext cx="7132320" cy="77724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AnomalyAgent</a:t>
            </a:r>
            <a:endParaRPr lang="en-US" sz="3900"/>
          </a:p>
        </p:txBody>
      </p:sp>
      <p:sp>
        <p:nvSpPr>
          <p:cNvPr id="25" name="Shape 25"/>
          <p:cNvSpPr/>
          <p:nvPr/>
        </p:nvSpPr>
        <p:spPr>
          <a:xfrm>
            <a:off x="777240" y="1856232"/>
            <a:ext cx="7269480" cy="1234440"/>
          </a:xfrm>
          <a:prstGeom prst="rect">
            <a:avLst/>
          </a:prstGeom>
          <a:noFill/>
        </p:spPr>
        <p:txBody>
          <a:bodyPr wrap="square" rtlCol="0" anchor="t" lIns="91440" rIns="91440" tIns="45720" bIns="45720"/>
          <a:lstStyle/>
          <a:p>
            <a:pPr algn="l"/>
            <a:r>
              <a:rPr lang="en-US" sz="270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Agentic Industrial Anomaly Synthesis via</a:t>
            </a:r>
            <a:endParaRPr lang="en-US" sz="2700"/>
          </a:p>
          <a:p>
            <a:pPr algn="l"/>
            <a:r>
              <a:rPr lang="en-US" sz="270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Tool-Augmented Reinforcement Learning</a:t>
            </a:r>
            <a:endParaRPr lang="en-US" sz="2700"/>
          </a:p>
        </p:txBody>
      </p:sp>
      <p:sp>
        <p:nvSpPr>
          <p:cNvPr id="26" name="Shape 26"/>
          <p:cNvSpPr/>
          <p:nvPr/>
        </p:nvSpPr>
        <p:spPr>
          <a:xfrm>
            <a:off x="786384" y="5093208"/>
            <a:ext cx="7772400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250">
                <a:solidFill>
                  <a:srgbClr val="A9B2CC"/>
                </a:solidFill>
                <a:latin typeface="Noto Sans CJK SC"/>
                <a:ea typeface="Noto Sans CJK SC"/>
                <a:cs typeface="Noto Sans CJK SC"/>
              </a:rPr>
              <a:t>arXiv:2604.07900  ·  汇报人：</a:t>
            </a:r>
            <a:r>
              <a:rPr lang="en-US" sz="1250">
                <a:solidFill>
                  <a:srgbClr val="A9B2CC"/>
                </a:solidFill>
                <a:latin typeface="Noto Sans CJK SC"/>
                <a:ea typeface="Noto Sans CJK SC"/>
                <a:cs typeface="Noto Sans CJK SC"/>
              </a:rPr>
              <a:t>何聚敛</a:t>
            </a:r>
            <a:r>
              <a:rPr lang="en-US" sz="1250">
                <a:solidFill>
                  <a:srgbClr val="A9B2CC"/>
                </a:solidFill>
                <a:latin typeface="Noto Sans CJK SC"/>
                <a:ea typeface="Noto Sans CJK SC"/>
                <a:cs typeface="Noto Sans CJK SC"/>
              </a:rPr>
              <a:t>  ·  2026-09-08</a:t>
            </a:r>
            <a:endParaRPr lang="en-US" sz="1250"/>
          </a:p>
        </p:txBody>
      </p:sp>
    </p:spTree>
  </p:cSld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