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svg" ContentType="image/svg+xml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</p:sldIdLst>
  <p:sldSz cx="12191695" cy="6858000"/>
  <p:notesSz cx="6858000" cy="9144000"/>
  <p:defaultTextStyle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Slide1" Type="http://schemas.openxmlformats.org/officeDocument/2006/relationships/slide" Target="slides/slide1.xml" /><Relationship Id="rIdSlide2" Type="http://schemas.openxmlformats.org/officeDocument/2006/relationships/slide" Target="slides/slide2.xml" /><Relationship Id="rIdSlide3" Type="http://schemas.openxmlformats.org/officeDocument/2006/relationships/slide" Target="slides/slide3.xml" /><Relationship Id="rIdSlide4" Type="http://schemas.openxmlformats.org/officeDocument/2006/relationships/slide" Target="slides/slide4.xml" /><Relationship Id="rIdSlide5" Type="http://schemas.openxmlformats.org/officeDocument/2006/relationships/slide" Target="slides/slide5.xml" /><Relationship Id="rIdSlide6" Type="http://schemas.openxmlformats.org/officeDocument/2006/relationships/slide" Target="slides/slide6.xml" /><Relationship Id="rIdSlide7" Type="http://schemas.openxmlformats.org/officeDocument/2006/relationships/slide" Target="slides/slide7.xml" /><Relationship Id="rIdSlide8" Type="http://schemas.openxmlformats.org/officeDocument/2006/relationships/slide" Target="slides/slide8.xml" /><Relationship Id="rIdSlide9" Type="http://schemas.openxmlformats.org/officeDocument/2006/relationships/slide" Target="slides/slide9.xml" /><Relationship Id="rIdSlide10" Type="http://schemas.openxmlformats.org/officeDocument/2006/relationships/slide" Target="slides/slide10.xml" /><Relationship Id="rIdSlide11" Type="http://schemas.openxmlformats.org/officeDocument/2006/relationships/slide" Target="slides/slide11.xml" /><Relationship Id="rIdSlide12" Type="http://schemas.openxmlformats.org/officeDocument/2006/relationships/slide" Target="slides/slide12.xml" /><Relationship Id="rIdSlide13" Type="http://schemas.openxmlformats.org/officeDocument/2006/relationships/slide" Target="slides/slide13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Layout1" Type="http://schemas.openxmlformats.org/officeDocument/2006/relationships/slideLayout" Target="../slideLayouts/slideLayout1.xml" /><Relationship Id="rIdTheme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Img2" Type="http://schemas.openxmlformats.org/officeDocument/2006/relationships/image" Target="../media/image1.png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Img2" Type="http://schemas.openxmlformats.org/officeDocument/2006/relationships/image" Target="../media/image2.pn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Img2" Type="http://schemas.openxmlformats.org/officeDocument/2006/relationships/image" Target="../media/image3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Img2" Type="http://schemas.openxmlformats.org/officeDocument/2006/relationships/image" Target="../media/image4.png" /><Relationship Id="rIdImg3" Type="http://schemas.openxmlformats.org/officeDocument/2006/relationships/image" Target="../media/image5.png" /><Relationship Id="rIdImg4" Type="http://schemas.openxmlformats.org/officeDocument/2006/relationships/image" Target="../media/image6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Img2" Type="http://schemas.openxmlformats.org/officeDocument/2006/relationships/image" Target="../media/image7.png" /><Relationship Id="rIdImg3" Type="http://schemas.openxmlformats.org/officeDocument/2006/relationships/image" Target="../media/image8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Img2" Type="http://schemas.openxmlformats.org/officeDocument/2006/relationships/image" Target="../media/image9.png" /><Relationship Id="rIdImg3" Type="http://schemas.openxmlformats.org/officeDocument/2006/relationships/image" Target="../media/image10.png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Img2" Type="http://schemas.openxmlformats.org/officeDocument/2006/relationships/image" Target="../media/image11.png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3" name="Shape 3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466344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0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1" name="Shape 11"/>
          <p:cNvSpPr/>
          <p:nvPr/>
        </p:nvSpPr>
        <p:spPr>
          <a:xfrm>
            <a:off x="813816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2" name="Shape 12"/>
          <p:cNvSpPr/>
          <p:nvPr/>
        </p:nvSpPr>
        <p:spPr>
          <a:xfrm>
            <a:off x="900684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3" name="Shape 13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4" name="Shape 14"/>
          <p:cNvSpPr/>
          <p:nvPr/>
        </p:nvSpPr>
        <p:spPr>
          <a:xfrm>
            <a:off x="1074420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5" name="Shape 15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6" name="Shape 16"/>
          <p:cNvSpPr/>
          <p:nvPr/>
        </p:nvSpPr>
        <p:spPr>
          <a:xfrm>
            <a:off x="0" y="274320"/>
            <a:ext cx="12191695" cy="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7" name="Shape 17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8" name="Shape 18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19" name="Shape 19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20" name="Shape 20"/>
          <p:cNvSpPr/>
          <p:nvPr/>
        </p:nvSpPr>
        <p:spPr>
          <a:xfrm>
            <a:off x="0" y="3566160"/>
            <a:ext cx="12191695" cy="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21" name="Shape 21"/>
          <p:cNvSpPr/>
          <p:nvPr/>
        </p:nvSpPr>
        <p:spPr>
          <a:xfrm>
            <a:off x="0" y="4389120"/>
            <a:ext cx="12191695" cy="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22" name="Shape 22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23" name="Shape 23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8890">
            <a:solidFill>
              <a:srgbClr val="18213B">
                <a:alpha val="65000"/>
              </a:srgbClr>
            </a:solidFill>
          </a:ln>
        </p:spPr>
      </p:sp>
      <p:sp>
        <p:nvSpPr>
          <p:cNvPr id="24" name="Shape 24"/>
          <p:cNvSpPr/>
          <p:nvPr/>
        </p:nvSpPr>
        <p:spPr>
          <a:xfrm>
            <a:off x="749808" y="1051560"/>
            <a:ext cx="7132320" cy="77724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AnomalyAgent</a:t>
            </a:r>
            <a:endParaRPr lang="en-US" sz="3900"/>
          </a:p>
        </p:txBody>
      </p:sp>
      <p:sp>
        <p:nvSpPr>
          <p:cNvPr id="25" name="Shape 25"/>
          <p:cNvSpPr/>
          <p:nvPr/>
        </p:nvSpPr>
        <p:spPr>
          <a:xfrm>
            <a:off x="777240" y="1856232"/>
            <a:ext cx="7269480" cy="1234440"/>
          </a:xfrm>
          <a:prstGeom prst="rect">
            <a:avLst/>
          </a:prstGeom>
          <a:noFill/>
        </p:spPr>
        <p:txBody>
          <a:bodyPr wrap="square" rtlCol="0" anchor="t" lIns="91440" rIns="91440" tIns="45720" bIns="45720"/>
          <a:lstStyle/>
          <a:p>
            <a:pPr algn="l"/>
            <a:r>
              <a:rPr lang="en-US" sz="2700" b="1">
                <a:solidFill>
                  <a:srgbClr val="DDE5FF"/>
                </a:solidFill>
                <a:latin typeface="Noto Sans CJK SC"/>
                <a:ea typeface="Noto Sans CJK SC"/>
                <a:cs typeface="Noto Sans CJK SC"/>
              </a:rPr>
              <a:t>Agentic Industrial Anomaly Synthesis via</a:t>
            </a:r>
            <a:endParaRPr lang="en-US" sz="2700"/>
          </a:p>
          <a:p>
            <a:pPr algn="l"/>
            <a:r>
              <a:rPr lang="en-US" sz="2700" b="1">
                <a:solidFill>
                  <a:srgbClr val="DDE5FF"/>
                </a:solidFill>
                <a:latin typeface="Noto Sans CJK SC"/>
                <a:ea typeface="Noto Sans CJK SC"/>
                <a:cs typeface="Noto Sans CJK SC"/>
              </a:rPr>
              <a:t>Tool-Augmented Reinforcement Learning</a:t>
            </a:r>
            <a:endParaRPr lang="en-US" sz="2700"/>
          </a:p>
        </p:txBody>
      </p:sp>
      <p:sp>
        <p:nvSpPr>
          <p:cNvPr id="26" name="Shape 26"/>
          <p:cNvSpPr/>
          <p:nvPr/>
        </p:nvSpPr>
        <p:spPr>
          <a:xfrm>
            <a:off x="786384" y="5093208"/>
            <a:ext cx="7772400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250">
                <a:solidFill>
                  <a:srgbClr val="A9B2CC"/>
                </a:solidFill>
                <a:latin typeface="Noto Sans CJK SC"/>
                <a:ea typeface="Noto Sans CJK SC"/>
                <a:cs typeface="Noto Sans CJK SC"/>
              </a:rPr>
              <a:t>arXiv:2604.07900  ·  汇报人：</a:t>
            </a:r>
            <a:r>
              <a:rPr lang="en-US" sz="1250">
                <a:solidFill>
                  <a:srgbClr val="A9B2CC"/>
                </a:solidFill>
                <a:latin typeface="Noto Sans CJK SC"/>
                <a:ea typeface="Noto Sans CJK SC"/>
                <a:cs typeface="Noto Sans CJK SC"/>
              </a:rPr>
              <a:t>何聚敛</a:t>
            </a:r>
            <a:r>
              <a:rPr lang="en-US" sz="1250">
                <a:solidFill>
                  <a:srgbClr val="A9B2CC"/>
                </a:solidFill>
                <a:latin typeface="Noto Sans CJK SC"/>
                <a:ea typeface="Noto Sans CJK SC"/>
                <a:cs typeface="Noto Sans CJK SC"/>
              </a:rPr>
              <a:t>  ·  2026-09-08</a:t>
            </a:r>
            <a:endParaRPr lang="en-US" sz="1250"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94360" y="292608"/>
            <a:ext cx="9966960" cy="50292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2400" b="1">
                <a:solidFill>
                  <a:srgbClr val="0B1020"/>
                </a:solidFill>
                <a:latin typeface="Noto Sans CJK SC"/>
                <a:ea typeface="Noto Sans CJK SC"/>
                <a:cs typeface="Noto Sans CJK SC"/>
              </a:rPr>
              <a:t>为什么需要异常合成？</a:t>
            </a:r>
            <a:endParaRPr lang="en-US" sz="2400"/>
          </a:p>
        </p:txBody>
      </p:sp>
      <p:sp>
        <p:nvSpPr>
          <p:cNvPr id="3" name="Shape 3"/>
          <p:cNvSpPr/>
          <p:nvPr/>
        </p:nvSpPr>
        <p:spPr>
          <a:xfrm>
            <a:off x="594360" y="1069848"/>
            <a:ext cx="10972800" cy="0"/>
          </a:xfrm>
          <a:prstGeom prst="line">
            <a:avLst/>
          </a:prstGeom>
          <a:noFill/>
          <a:ln w="13970">
            <a:solidFill>
              <a:srgbClr val="D8DDEA"/>
            </a:solidFill>
          </a:ln>
        </p:spPr>
      </p:sp>
      <p:sp>
        <p:nvSpPr>
          <p:cNvPr id="4" name="Shape 4"/>
          <p:cNvSpPr/>
          <p:nvPr/>
        </p:nvSpPr>
        <p:spPr>
          <a:xfrm>
            <a:off x="640080" y="1298448"/>
            <a:ext cx="1097280" cy="301752"/>
          </a:xfrm>
          <a:prstGeom prst="roundRect">
            <a:avLst>
              <a:gd name="adj" fmla="val 54540"/>
            </a:avLst>
          </a:prstGeom>
          <a:solidFill>
            <a:srgbClr val="E85D75"/>
          </a:solidFill>
          <a:ln w="10160">
            <a:solidFill>
              <a:srgbClr val="E85D75"/>
            </a:solidFill>
          </a:ln>
        </p:spPr>
      </p:sp>
      <p:sp>
        <p:nvSpPr>
          <p:cNvPr id="5" name="Shape 5"/>
          <p:cNvSpPr/>
          <p:nvPr/>
        </p:nvSpPr>
        <p:spPr>
          <a:xfrm>
            <a:off x="640080" y="1298448"/>
            <a:ext cx="1097280" cy="30175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存在的问题</a:t>
            </a:r>
            <a:endParaRPr lang="en-US" sz="1400"/>
          </a:p>
        </p:txBody>
      </p:sp>
      <p:sp>
        <p:nvSpPr>
          <p:cNvPr id="6" name="Shape 6"/>
          <p:cNvSpPr/>
          <p:nvPr/>
        </p:nvSpPr>
        <p:spPr>
          <a:xfrm>
            <a:off x="658368" y="1737360"/>
            <a:ext cx="5257800" cy="4224528"/>
          </a:xfrm>
          <a:prstGeom prst="roundRect">
            <a:avLst>
              <a:gd name="adj" fmla="val 2160"/>
            </a:avLst>
          </a:prstGeom>
          <a:solidFill>
            <a:srgbClr val="FFFFFF"/>
          </a:solidFill>
          <a:ln w="12700">
            <a:solidFill>
              <a:srgbClr val="D8DDEA"/>
            </a:solidFill>
          </a:ln>
        </p:spPr>
      </p:sp>
      <p:sp>
        <p:nvSpPr>
          <p:cNvPr id="7" name="Shape 7"/>
          <p:cNvSpPr/>
          <p:nvPr/>
        </p:nvSpPr>
        <p:spPr>
          <a:xfrm>
            <a:off x="914400" y="1938528"/>
            <a:ext cx="2194560" cy="34747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80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现实数据分布</a:t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960120" y="2578608"/>
            <a:ext cx="1143000" cy="29260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300" b="1">
                <a:solidFill>
                  <a:srgbClr val="29A36A"/>
                </a:solidFill>
                <a:latin typeface="Noto Sans CJK SC"/>
                <a:ea typeface="Noto Sans CJK SC"/>
                <a:cs typeface="Noto Sans CJK SC"/>
              </a:rPr>
              <a:t>正常样本</a:t>
            </a:r>
            <a:endParaRPr lang="en-US" sz="1300"/>
          </a:p>
        </p:txBody>
      </p:sp>
      <p:sp>
        <p:nvSpPr>
          <p:cNvPr id="9" name="Shape 9"/>
          <p:cNvSpPr/>
          <p:nvPr/>
        </p:nvSpPr>
        <p:spPr>
          <a:xfrm>
            <a:off x="978408" y="2944368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10" name="Shape 10"/>
          <p:cNvSpPr/>
          <p:nvPr/>
        </p:nvSpPr>
        <p:spPr>
          <a:xfrm>
            <a:off x="1417320" y="2944368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11" name="Shape 11"/>
          <p:cNvSpPr/>
          <p:nvPr/>
        </p:nvSpPr>
        <p:spPr>
          <a:xfrm>
            <a:off x="1856232" y="2944368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2295144" y="2944368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13" name="Shape 13"/>
          <p:cNvSpPr/>
          <p:nvPr/>
        </p:nvSpPr>
        <p:spPr>
          <a:xfrm>
            <a:off x="2734056" y="2944368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172968" y="2944368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15" name="Shape 15"/>
          <p:cNvSpPr/>
          <p:nvPr/>
        </p:nvSpPr>
        <p:spPr>
          <a:xfrm>
            <a:off x="3611880" y="2944368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978408" y="3383280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17" name="Shape 17"/>
          <p:cNvSpPr/>
          <p:nvPr/>
        </p:nvSpPr>
        <p:spPr>
          <a:xfrm>
            <a:off x="1417320" y="3383280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18" name="Shape 18"/>
          <p:cNvSpPr/>
          <p:nvPr/>
        </p:nvSpPr>
        <p:spPr>
          <a:xfrm>
            <a:off x="1856232" y="3383280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19" name="Shape 19"/>
          <p:cNvSpPr/>
          <p:nvPr/>
        </p:nvSpPr>
        <p:spPr>
          <a:xfrm>
            <a:off x="2295144" y="3383280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20" name="Shape 20"/>
          <p:cNvSpPr/>
          <p:nvPr/>
        </p:nvSpPr>
        <p:spPr>
          <a:xfrm>
            <a:off x="2734056" y="3383280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21" name="Shape 21"/>
          <p:cNvSpPr/>
          <p:nvPr/>
        </p:nvSpPr>
        <p:spPr>
          <a:xfrm>
            <a:off x="3172968" y="3383280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22" name="Shape 22"/>
          <p:cNvSpPr/>
          <p:nvPr/>
        </p:nvSpPr>
        <p:spPr>
          <a:xfrm>
            <a:off x="3611880" y="3383280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23" name="Shape 23"/>
          <p:cNvSpPr/>
          <p:nvPr/>
        </p:nvSpPr>
        <p:spPr>
          <a:xfrm>
            <a:off x="978408" y="3822192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24" name="Shape 24"/>
          <p:cNvSpPr/>
          <p:nvPr/>
        </p:nvSpPr>
        <p:spPr>
          <a:xfrm>
            <a:off x="1417320" y="3822192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25" name="Shape 25"/>
          <p:cNvSpPr/>
          <p:nvPr/>
        </p:nvSpPr>
        <p:spPr>
          <a:xfrm>
            <a:off x="1856232" y="3822192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26" name="Shape 26"/>
          <p:cNvSpPr/>
          <p:nvPr/>
        </p:nvSpPr>
        <p:spPr>
          <a:xfrm>
            <a:off x="2295144" y="3822192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27" name="Shape 27"/>
          <p:cNvSpPr/>
          <p:nvPr/>
        </p:nvSpPr>
        <p:spPr>
          <a:xfrm>
            <a:off x="2734056" y="3822192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28" name="Shape 28"/>
          <p:cNvSpPr/>
          <p:nvPr/>
        </p:nvSpPr>
        <p:spPr>
          <a:xfrm>
            <a:off x="3172968" y="3822192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29" name="Shape 29"/>
          <p:cNvSpPr/>
          <p:nvPr/>
        </p:nvSpPr>
        <p:spPr>
          <a:xfrm>
            <a:off x="3611880" y="3822192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30" name="Shape 30"/>
          <p:cNvSpPr/>
          <p:nvPr/>
        </p:nvSpPr>
        <p:spPr>
          <a:xfrm>
            <a:off x="978408" y="4261104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31" name="Shape 31"/>
          <p:cNvSpPr/>
          <p:nvPr/>
        </p:nvSpPr>
        <p:spPr>
          <a:xfrm>
            <a:off x="1417320" y="4261104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32" name="Shape 32"/>
          <p:cNvSpPr/>
          <p:nvPr/>
        </p:nvSpPr>
        <p:spPr>
          <a:xfrm>
            <a:off x="1856232" y="4261104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33" name="Shape 33"/>
          <p:cNvSpPr/>
          <p:nvPr/>
        </p:nvSpPr>
        <p:spPr>
          <a:xfrm>
            <a:off x="2295144" y="4261104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34" name="Shape 34"/>
          <p:cNvSpPr/>
          <p:nvPr/>
        </p:nvSpPr>
        <p:spPr>
          <a:xfrm>
            <a:off x="2734056" y="4261104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35" name="Shape 35"/>
          <p:cNvSpPr/>
          <p:nvPr/>
        </p:nvSpPr>
        <p:spPr>
          <a:xfrm>
            <a:off x="3172968" y="4261104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36" name="Shape 36"/>
          <p:cNvSpPr/>
          <p:nvPr/>
        </p:nvSpPr>
        <p:spPr>
          <a:xfrm>
            <a:off x="3611880" y="4261104"/>
            <a:ext cx="283464" cy="283464"/>
          </a:xfrm>
          <a:prstGeom prst="roundRect">
            <a:avLst>
              <a:gd name="adj" fmla="val 19350"/>
            </a:avLst>
          </a:prstGeom>
          <a:solidFill>
            <a:srgbClr val="D9F2E6"/>
          </a:solidFill>
          <a:ln w="7620">
            <a:solidFill>
              <a:srgbClr val="B8E5CE"/>
            </a:solidFill>
          </a:ln>
        </p:spPr>
      </p:sp>
      <p:sp>
        <p:nvSpPr>
          <p:cNvPr id="37" name="Shape 37"/>
          <p:cNvSpPr/>
          <p:nvPr/>
        </p:nvSpPr>
        <p:spPr>
          <a:xfrm>
            <a:off x="3977640" y="3621024"/>
            <a:ext cx="1417320" cy="29260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200">
                <a:solidFill>
                  <a:srgbClr val="29A36A"/>
                </a:solidFill>
                <a:latin typeface="Noto Sans CJK SC"/>
                <a:ea typeface="Noto Sans CJK SC"/>
                <a:cs typeface="Noto Sans CJK SC"/>
              </a:rPr>
              <a:t>正样本多</a:t>
            </a:r>
            <a:r>
              <a:rPr lang="en-US" sz="1200">
                <a:solidFill>
                  <a:srgbClr val="29A36A"/>
                </a:solidFill>
                <a:latin typeface="Noto Sans CJK SC"/>
                <a:ea typeface="Noto Sans CJK SC"/>
                <a:cs typeface="Noto Sans CJK SC"/>
              </a:rPr>
              <a:t>/易采集</a:t>
            </a:r>
            <a:endParaRPr lang="en-US" sz="1200"/>
          </a:p>
        </p:txBody>
      </p:sp>
      <p:sp>
        <p:nvSpPr>
          <p:cNvPr id="38" name="Shape 38"/>
          <p:cNvSpPr/>
          <p:nvPr/>
        </p:nvSpPr>
        <p:spPr>
          <a:xfrm>
            <a:off x="960120" y="4681728"/>
            <a:ext cx="1143000" cy="29260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300" b="1">
                <a:solidFill>
                  <a:srgbClr val="E85D75"/>
                </a:solidFill>
                <a:latin typeface="Noto Sans CJK SC"/>
                <a:ea typeface="Noto Sans CJK SC"/>
                <a:cs typeface="Noto Sans CJK SC"/>
              </a:rPr>
              <a:t>异常样本</a:t>
            </a:r>
            <a:endParaRPr lang="en-US" sz="1300"/>
          </a:p>
        </p:txBody>
      </p:sp>
      <p:sp>
        <p:nvSpPr>
          <p:cNvPr id="39" name="Shape 39"/>
          <p:cNvSpPr/>
          <p:nvPr/>
        </p:nvSpPr>
        <p:spPr>
          <a:xfrm>
            <a:off x="950976" y="4974336"/>
            <a:ext cx="310896" cy="310896"/>
          </a:xfrm>
          <a:prstGeom prst="roundRect">
            <a:avLst>
              <a:gd name="adj" fmla="val 17650"/>
            </a:avLst>
          </a:prstGeom>
          <a:solidFill>
            <a:srgbClr val="FADAE1"/>
          </a:solidFill>
          <a:ln w="7620">
            <a:solidFill>
              <a:srgbClr val="F3AABC"/>
            </a:solidFill>
          </a:ln>
        </p:spPr>
      </p:sp>
      <p:sp>
        <p:nvSpPr>
          <p:cNvPr id="40" name="Shape 40"/>
          <p:cNvSpPr/>
          <p:nvPr/>
        </p:nvSpPr>
        <p:spPr>
          <a:xfrm>
            <a:off x="1426464" y="4974336"/>
            <a:ext cx="310896" cy="310896"/>
          </a:xfrm>
          <a:prstGeom prst="roundRect">
            <a:avLst>
              <a:gd name="adj" fmla="val 17650"/>
            </a:avLst>
          </a:prstGeom>
          <a:solidFill>
            <a:srgbClr val="FADAE1"/>
          </a:solidFill>
          <a:ln w="7620">
            <a:solidFill>
              <a:srgbClr val="F3AABC"/>
            </a:solidFill>
          </a:ln>
        </p:spPr>
      </p:sp>
      <p:sp>
        <p:nvSpPr>
          <p:cNvPr id="41" name="Shape 41"/>
          <p:cNvSpPr/>
          <p:nvPr/>
        </p:nvSpPr>
        <p:spPr>
          <a:xfrm>
            <a:off x="1901952" y="4974336"/>
            <a:ext cx="310896" cy="310896"/>
          </a:xfrm>
          <a:prstGeom prst="roundRect">
            <a:avLst>
              <a:gd name="adj" fmla="val 17650"/>
            </a:avLst>
          </a:prstGeom>
          <a:solidFill>
            <a:srgbClr val="FADAE1"/>
          </a:solidFill>
          <a:ln w="7620">
            <a:solidFill>
              <a:srgbClr val="F3AABC"/>
            </a:solidFill>
          </a:ln>
        </p:spPr>
      </p:sp>
      <p:sp>
        <p:nvSpPr>
          <p:cNvPr id="42" name="Shape 42"/>
          <p:cNvSpPr/>
          <p:nvPr/>
        </p:nvSpPr>
        <p:spPr>
          <a:xfrm>
            <a:off x="2377440" y="4974336"/>
            <a:ext cx="310896" cy="310896"/>
          </a:xfrm>
          <a:prstGeom prst="roundRect">
            <a:avLst>
              <a:gd name="adj" fmla="val 17650"/>
            </a:avLst>
          </a:prstGeom>
          <a:solidFill>
            <a:srgbClr val="FADAE1"/>
          </a:solidFill>
          <a:ln w="7620">
            <a:solidFill>
              <a:srgbClr val="F3AABC"/>
            </a:solidFill>
          </a:ln>
        </p:spPr>
      </p:sp>
      <p:sp>
        <p:nvSpPr>
          <p:cNvPr id="43" name="Shape 43"/>
          <p:cNvSpPr/>
          <p:nvPr/>
        </p:nvSpPr>
        <p:spPr>
          <a:xfrm>
            <a:off x="2852928" y="4974336"/>
            <a:ext cx="310896" cy="310896"/>
          </a:xfrm>
          <a:prstGeom prst="roundRect">
            <a:avLst>
              <a:gd name="adj" fmla="val 17650"/>
            </a:avLst>
          </a:prstGeom>
          <a:solidFill>
            <a:srgbClr val="FADAE1"/>
          </a:solidFill>
          <a:ln w="7620">
            <a:solidFill>
              <a:srgbClr val="F3AABC"/>
            </a:solidFill>
          </a:ln>
        </p:spPr>
      </p:sp>
      <p:sp>
        <p:nvSpPr>
          <p:cNvPr id="44" name="Shape 44"/>
          <p:cNvSpPr/>
          <p:nvPr/>
        </p:nvSpPr>
        <p:spPr>
          <a:xfrm>
            <a:off x="3456432" y="5042916"/>
            <a:ext cx="2378354" cy="489204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200">
                <a:solidFill>
                  <a:srgbClr val="E85D75"/>
                </a:solidFill>
                <a:latin typeface="Noto Sans CJK SC"/>
                <a:ea typeface="Noto Sans CJK SC"/>
                <a:cs typeface="Noto Sans CJK SC"/>
              </a:rPr>
              <a:t>缺陷</a:t>
            </a:r>
            <a:r>
              <a:rPr lang="en-US" sz="1200">
                <a:solidFill>
                  <a:srgbClr val="E85D75"/>
                </a:solidFill>
                <a:latin typeface="Noto Sans CJK SC"/>
                <a:ea typeface="Noto Sans CJK SC"/>
                <a:cs typeface="Noto Sans CJK SC"/>
              </a:rPr>
              <a:t>极少+</a:t>
            </a:r>
            <a:r>
              <a:rPr lang="en-US" sz="1200">
                <a:solidFill>
                  <a:srgbClr val="E85D75"/>
                </a:solidFill>
                <a:latin typeface="Noto Sans CJK SC"/>
                <a:ea typeface="Noto Sans CJK SC"/>
                <a:cs typeface="Noto Sans CJK SC"/>
              </a:rPr>
              <a:t>种类多样</a:t>
            </a:r>
            <a:r>
              <a:rPr lang="en-US" sz="1200">
                <a:solidFill>
                  <a:srgbClr val="E85D75"/>
                </a:solidFill>
                <a:latin typeface="Noto Sans CJK SC"/>
                <a:ea typeface="Noto Sans CJK SC"/>
                <a:cs typeface="Noto Sans CJK SC"/>
              </a:rPr>
              <a:t>+难采集</a:t>
            </a:r>
            <a:endParaRPr lang="en-US" sz="1200"/>
          </a:p>
          <a:p>
            <a:pPr algn="ctr"/>
            <a:r>
              <a:rPr lang="en-US" sz="1200">
                <a:solidFill>
                  <a:srgbClr val="E85D75"/>
                </a:solidFill>
                <a:latin typeface="Noto Sans CJK SC"/>
                <a:ea typeface="Noto Sans CJK SC"/>
                <a:cs typeface="Noto Sans CJK SC"/>
              </a:rPr>
              <a:t>导致训练数据不足</a:t>
            </a:r>
            <a:endParaRPr lang="en-US" sz="1200"/>
          </a:p>
        </p:txBody>
      </p:sp>
      <p:sp>
        <p:nvSpPr>
          <p:cNvPr id="45" name="Shape 45"/>
          <p:cNvSpPr/>
          <p:nvPr/>
        </p:nvSpPr>
        <p:spPr>
          <a:xfrm>
            <a:off x="6263640" y="1737360"/>
            <a:ext cx="5257800" cy="4224528"/>
          </a:xfrm>
          <a:prstGeom prst="roundRect">
            <a:avLst>
              <a:gd name="adj" fmla="val 2160"/>
            </a:avLst>
          </a:prstGeom>
          <a:solidFill>
            <a:srgbClr val="FFFFFF"/>
          </a:solidFill>
          <a:ln w="12700">
            <a:solidFill>
              <a:srgbClr val="D8DDEA"/>
            </a:solidFill>
          </a:ln>
        </p:spPr>
      </p:sp>
      <p:sp>
        <p:nvSpPr>
          <p:cNvPr id="46" name="Shape 46"/>
          <p:cNvSpPr/>
          <p:nvPr/>
        </p:nvSpPr>
        <p:spPr>
          <a:xfrm>
            <a:off x="6359652" y="1938528"/>
            <a:ext cx="5180990" cy="34747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40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工业异常合成（</a:t>
            </a:r>
            <a:r>
              <a:rPr lang="en-US" sz="140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Industrial Anomaly Synthesis）</a:t>
            </a:r>
            <a:endParaRPr lang="en-US" sz="1400"/>
          </a:p>
        </p:txBody>
      </p:sp>
      <p:sp>
        <p:nvSpPr>
          <p:cNvPr id="47" name="Shape 47"/>
          <p:cNvSpPr/>
          <p:nvPr/>
        </p:nvSpPr>
        <p:spPr>
          <a:xfrm>
            <a:off x="612648" y="6547104"/>
            <a:ext cx="5303520" cy="16459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80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Su et al., arXiv:2604.07900 (2026)</a:t>
            </a:r>
            <a:endParaRPr lang="en-US" sz="800"/>
          </a:p>
        </p:txBody>
      </p:sp>
      <p:sp>
        <p:nvSpPr>
          <p:cNvPr id="48" name="Shape 48"/>
          <p:cNvSpPr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r"/>
            <a:r>
              <a:rPr lang="en-US" sz="85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en-US" sz="850"/>
          </a:p>
        </p:txBody>
      </p:sp>
      <p:sp>
        <p:nvSpPr>
          <p:cNvPr id="49" name="Shape 49"/>
          <p:cNvSpPr/>
          <p:nvPr/>
        </p:nvSpPr>
        <p:spPr>
          <a:xfrm>
            <a:off x="6263640" y="1298448"/>
            <a:ext cx="1097280" cy="301752"/>
          </a:xfrm>
          <a:prstGeom prst="roundRect">
            <a:avLst>
              <a:gd name="adj" fmla="val 54540"/>
            </a:avLst>
          </a:prstGeom>
          <a:solidFill>
            <a:srgbClr val="E85D75"/>
          </a:solidFill>
          <a:ln w="10160">
            <a:solidFill>
              <a:srgbClr val="E85D75"/>
            </a:solidFill>
          </a:ln>
        </p:spPr>
      </p:sp>
      <p:sp>
        <p:nvSpPr>
          <p:cNvPr id="50" name="Shape 50"/>
          <p:cNvSpPr/>
          <p:nvPr/>
        </p:nvSpPr>
        <p:spPr>
          <a:xfrm>
            <a:off x="6263640" y="1298448"/>
            <a:ext cx="1097280" cy="30175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现有思路</a:t>
            </a:r>
            <a:endParaRPr lang="en-US" sz="1400"/>
          </a:p>
        </p:txBody>
      </p:sp>
      <p:sp>
        <p:nvSpPr>
          <p:cNvPr id="51" name="Shape 51"/>
          <p:cNvSpPr txBox="1"/>
          <p:nvPr/>
        </p:nvSpPr>
        <p:spPr>
          <a:xfrm>
            <a:off x="6445606" y="3183941"/>
            <a:ext cx="4811573" cy="64556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"/>
                <a:ea typeface=""/>
                <a:cs typeface=""/>
              </a:rPr>
              <a:t>人为合成裂纹、孔洞、破损等缺陷，再用这些合成数据训练异常检测或异常分割模型</a:t>
            </a:r>
            <a:endParaRPr lang="en-US" sz="1400"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94360" y="292608"/>
            <a:ext cx="9966960" cy="50292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2600" b="1">
                <a:solidFill>
                  <a:srgbClr val="0B1020"/>
                </a:solidFill>
                <a:latin typeface="Noto Sans CJK SC"/>
                <a:ea typeface="Noto Sans CJK SC"/>
                <a:cs typeface="Noto Sans CJK SC"/>
              </a:rPr>
              <a:t>现有方法以及局限</a:t>
            </a:r>
            <a:endParaRPr lang="en-US" sz="2600"/>
          </a:p>
        </p:txBody>
      </p:sp>
      <p:sp>
        <p:nvSpPr>
          <p:cNvPr id="3" name="Shape 3"/>
          <p:cNvSpPr/>
          <p:nvPr/>
        </p:nvSpPr>
        <p:spPr>
          <a:xfrm>
            <a:off x="594360" y="1069848"/>
            <a:ext cx="10972800" cy="0"/>
          </a:xfrm>
          <a:prstGeom prst="line">
            <a:avLst/>
          </a:prstGeom>
          <a:noFill/>
          <a:ln w="13970">
            <a:solidFill>
              <a:srgbClr val="D8DDEA"/>
            </a:solidFill>
          </a:ln>
        </p:spPr>
      </p:sp>
      <p:sp>
        <p:nvSpPr>
          <p:cNvPr id="4" name="Shape 4"/>
          <p:cNvSpPr/>
          <p:nvPr/>
        </p:nvSpPr>
        <p:spPr>
          <a:xfrm>
            <a:off x="640080" y="1298448"/>
            <a:ext cx="1417320" cy="301752"/>
          </a:xfrm>
          <a:prstGeom prst="roundRect">
            <a:avLst>
              <a:gd name="adj" fmla="val 54540"/>
            </a:avLst>
          </a:prstGeom>
          <a:solidFill>
            <a:srgbClr val="6C5CE7"/>
          </a:solidFill>
          <a:ln w="10160">
            <a:solidFill>
              <a:srgbClr val="6C5CE7"/>
            </a:solidFill>
          </a:ln>
        </p:spPr>
      </p:sp>
      <p:sp>
        <p:nvSpPr>
          <p:cNvPr id="5" name="Shape 5"/>
          <p:cNvSpPr/>
          <p:nvPr/>
        </p:nvSpPr>
        <p:spPr>
          <a:xfrm>
            <a:off x="640080" y="1298448"/>
            <a:ext cx="1417320" cy="30175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PAPER FIG.1</a:t>
            </a:r>
            <a:endParaRPr lang="en-US" sz="950"/>
          </a:p>
        </p:txBody>
      </p:sp>
      <p:sp>
        <p:nvSpPr>
          <p:cNvPr id="6" name="Shape 6"/>
          <p:cNvSpPr/>
          <p:nvPr/>
        </p:nvSpPr>
        <p:spPr>
          <a:xfrm>
            <a:off x="635508" y="1627632"/>
            <a:ext cx="4207154" cy="4772254"/>
          </a:xfrm>
          <a:prstGeom prst="roundRect">
            <a:avLst>
              <a:gd name="adj" fmla="val 2200"/>
            </a:avLst>
          </a:prstGeom>
          <a:solidFill>
            <a:srgbClr val="FBFCFE"/>
          </a:solidFill>
          <a:ln w="12700">
            <a:solidFill>
              <a:srgbClr val="D8DDEA"/>
            </a:solidFill>
          </a:ln>
        </p:spPr>
      </p:sp>
      <p:pic>
        <p:nvPicPr>
          <p:cNvPr id="7" name="Picture 7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804672" y="1737360"/>
            <a:ext cx="3840480" cy="4572000"/>
          </a:xfrm>
          <a:prstGeom prst="rect">
            <a:avLst/>
          </a:prstGeom>
        </p:spPr>
      </p:pic>
      <p:sp>
        <p:nvSpPr>
          <p:cNvPr id="8" name="Shape 8"/>
          <p:cNvSpPr/>
          <p:nvPr/>
        </p:nvSpPr>
        <p:spPr>
          <a:xfrm>
            <a:off x="5074920" y="1627632"/>
            <a:ext cx="6382512" cy="1133856"/>
          </a:xfrm>
          <a:prstGeom prst="roundRect">
            <a:avLst>
              <a:gd name="adj" fmla="val 8060"/>
            </a:avLst>
          </a:prstGeom>
          <a:solidFill>
            <a:srgbClr val="E8F6EF"/>
          </a:solidFill>
          <a:ln w="12700">
            <a:solidFill>
              <a:srgbClr val="C7E8D7"/>
            </a:solidFill>
          </a:ln>
        </p:spPr>
      </p:sp>
      <p:sp>
        <p:nvSpPr>
          <p:cNvPr id="9" name="Shape 9"/>
          <p:cNvSpPr/>
          <p:nvPr/>
        </p:nvSpPr>
        <p:spPr>
          <a:xfrm>
            <a:off x="5321808" y="1847088"/>
            <a:ext cx="1078992" cy="310896"/>
          </a:xfrm>
          <a:prstGeom prst="roundRect">
            <a:avLst>
              <a:gd name="adj" fmla="val 52940"/>
            </a:avLst>
          </a:prstGeom>
          <a:solidFill>
            <a:srgbClr val="29A36A"/>
          </a:solidFill>
          <a:ln w="10160">
            <a:solidFill>
              <a:srgbClr val="29A36A"/>
            </a:solidFill>
          </a:ln>
        </p:spPr>
      </p:sp>
      <p:sp>
        <p:nvSpPr>
          <p:cNvPr id="10" name="Shape 10"/>
          <p:cNvSpPr/>
          <p:nvPr/>
        </p:nvSpPr>
        <p:spPr>
          <a:xfrm>
            <a:off x="5321808" y="1847088"/>
            <a:ext cx="1078992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Few-shot</a:t>
            </a:r>
            <a:endParaRPr lang="en-US" sz="1050"/>
          </a:p>
        </p:txBody>
      </p:sp>
      <p:sp>
        <p:nvSpPr>
          <p:cNvPr id="11" name="Shape 11"/>
          <p:cNvSpPr/>
          <p:nvPr/>
        </p:nvSpPr>
        <p:spPr>
          <a:xfrm>
            <a:off x="6601968" y="1663294"/>
            <a:ext cx="4389120" cy="1048817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400" b="1">
                <a:solidFill>
                  <a:srgbClr val="29A36A"/>
                </a:solidFill>
                <a:latin typeface="Noto Sans CJK SC"/>
                <a:ea typeface="Noto Sans CJK SC"/>
                <a:cs typeface="Noto Sans CJK SC"/>
              </a:rPr>
              <a:t>少样本异常生成</a:t>
            </a:r>
            <a:endParaRPr lang="en-US" sz="1400"/>
          </a:p>
          <a:p>
            <a:pPr algn="l"/>
            <a:r>
              <a:rPr lang="en-US" sz="1400" b="1">
                <a:solidFill>
                  <a:srgbClr val="29A36A"/>
                </a:solidFill>
                <a:latin typeface="Noto Sans CJK SC"/>
                <a:ea typeface="Noto Sans CJK SC"/>
                <a:cs typeface="Noto Sans CJK SC"/>
              </a:rPr>
              <a:t>通过</a:t>
            </a:r>
            <a:r>
              <a:rPr lang="en-US" sz="1400" b="1">
                <a:solidFill>
                  <a:srgbClr val="29A36A"/>
                </a:solidFill>
                <a:latin typeface="Noto Sans CJK SC"/>
                <a:ea typeface="Noto Sans CJK SC"/>
                <a:cs typeface="Noto Sans CJK SC"/>
              </a:rPr>
              <a:t>GAN、Diffusion</a:t>
            </a:r>
            <a:r>
              <a:rPr lang="en-US" sz="1400" b="1">
                <a:solidFill>
                  <a:srgbClr val="29A36A"/>
                </a:solidFill>
                <a:latin typeface="Noto Sans CJK SC"/>
                <a:ea typeface="Noto Sans CJK SC"/>
                <a:cs typeface="Noto Sans CJK SC"/>
              </a:rPr>
              <a:t>等生成模型学习缺陷分布</a:t>
            </a:r>
            <a:endParaRPr lang="en-US" sz="1400"/>
          </a:p>
          <a:p>
            <a:pPr algn="l"/>
            <a:r>
              <a:rPr lang="en-US" sz="1400" b="1">
                <a:solidFill>
                  <a:srgbClr val="29A36A"/>
                </a:solidFill>
                <a:latin typeface="Noto Sans CJK SC"/>
                <a:ea typeface="Noto Sans CJK SC"/>
                <a:cs typeface="Noto Sans CJK SC"/>
              </a:rPr>
              <a:t>更贴近真实缺陷分布，但受训练异常类型限制。</a:t>
            </a:r>
            <a:endParaRPr lang="en-US" sz="1400"/>
          </a:p>
        </p:txBody>
      </p:sp>
      <p:sp>
        <p:nvSpPr>
          <p:cNvPr id="12" name="Shape 12"/>
          <p:cNvSpPr/>
          <p:nvPr/>
        </p:nvSpPr>
        <p:spPr>
          <a:xfrm>
            <a:off x="5074920" y="2898648"/>
            <a:ext cx="6382512" cy="1133856"/>
          </a:xfrm>
          <a:prstGeom prst="roundRect">
            <a:avLst>
              <a:gd name="adj" fmla="val 8060"/>
            </a:avLst>
          </a:prstGeom>
          <a:solidFill>
            <a:srgbClr val="EAF2FF"/>
          </a:solidFill>
          <a:ln w="12700">
            <a:solidFill>
              <a:srgbClr val="C7D9FB"/>
            </a:solidFill>
          </a:ln>
        </p:spPr>
      </p:sp>
      <p:sp>
        <p:nvSpPr>
          <p:cNvPr id="13" name="Shape 13"/>
          <p:cNvSpPr/>
          <p:nvPr/>
        </p:nvSpPr>
        <p:spPr>
          <a:xfrm>
            <a:off x="5321808" y="3127248"/>
            <a:ext cx="1170432" cy="310896"/>
          </a:xfrm>
          <a:prstGeom prst="roundRect">
            <a:avLst>
              <a:gd name="adj" fmla="val 52940"/>
            </a:avLst>
          </a:prstGeom>
          <a:solidFill>
            <a:srgbClr val="2D7FF9"/>
          </a:solidFill>
          <a:ln w="10160">
            <a:solidFill>
              <a:srgbClr val="2D7FF9"/>
            </a:solidFill>
          </a:ln>
        </p:spPr>
      </p:sp>
      <p:sp>
        <p:nvSpPr>
          <p:cNvPr id="14" name="Shape 14"/>
          <p:cNvSpPr/>
          <p:nvPr/>
        </p:nvSpPr>
        <p:spPr>
          <a:xfrm>
            <a:off x="5321808" y="3127248"/>
            <a:ext cx="1170432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Zero-shot</a:t>
            </a:r>
            <a:endParaRPr lang="en-US" sz="1050"/>
          </a:p>
        </p:txBody>
      </p:sp>
      <p:sp>
        <p:nvSpPr>
          <p:cNvPr id="15" name="Shape 15"/>
          <p:cNvSpPr/>
          <p:nvPr/>
        </p:nvSpPr>
        <p:spPr>
          <a:xfrm>
            <a:off x="6601968" y="2917850"/>
            <a:ext cx="4851806" cy="104150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400" b="1">
                <a:solidFill>
                  <a:srgbClr val="2D7FF9"/>
                </a:solidFill>
                <a:latin typeface="Noto Sans CJK SC"/>
                <a:ea typeface="Noto Sans CJK SC"/>
                <a:cs typeface="Noto Sans CJK SC"/>
              </a:rPr>
              <a:t>零样本异常生成</a:t>
            </a:r>
            <a:endParaRPr lang="en-US" sz="1400"/>
          </a:p>
          <a:p>
            <a:pPr algn="l"/>
            <a:r>
              <a:rPr lang="en-US" sz="1400" b="1">
                <a:solidFill>
                  <a:srgbClr val="2D7FF9"/>
                </a:solidFill>
                <a:latin typeface="Noto Sans CJK SC"/>
                <a:ea typeface="Noto Sans CJK SC"/>
                <a:cs typeface="Noto Sans CJK SC"/>
              </a:rPr>
              <a:t>进行裁剪、粘贴、扰动</a:t>
            </a:r>
            <a:r>
              <a:rPr lang="en-US" sz="1400" b="1">
                <a:solidFill>
                  <a:srgbClr val="2D7FF9"/>
                </a:solidFill>
                <a:latin typeface="Noto Sans CJK SC"/>
                <a:ea typeface="Noto Sans CJK SC"/>
                <a:cs typeface="Noto Sans CJK SC"/>
              </a:rPr>
              <a:t>,</a:t>
            </a:r>
            <a:r>
              <a:rPr lang="en-US" sz="1400" b="1">
                <a:solidFill>
                  <a:srgbClr val="2D7FF9"/>
                </a:solidFill>
                <a:latin typeface="Noto Sans CJK SC"/>
                <a:ea typeface="Noto Sans CJK SC"/>
                <a:cs typeface="Noto Sans CJK SC"/>
              </a:rPr>
              <a:t>利用预训练生成模型来生成异常</a:t>
            </a:r>
            <a:endParaRPr lang="en-US" sz="1400"/>
          </a:p>
          <a:p>
            <a:pPr algn="l"/>
            <a:r>
              <a:rPr lang="en-US" sz="1400" b="1">
                <a:solidFill>
                  <a:srgbClr val="2D7FF9"/>
                </a:solidFill>
                <a:latin typeface="Noto Sans CJK SC"/>
                <a:ea typeface="Noto Sans CJK SC"/>
                <a:cs typeface="Noto Sans CJK SC"/>
              </a:rPr>
              <a:t>更容易开放集泛化，但语义真实性往往不足。</a:t>
            </a:r>
            <a:endParaRPr lang="en-US" sz="1400"/>
          </a:p>
        </p:txBody>
      </p:sp>
      <p:sp>
        <p:nvSpPr>
          <p:cNvPr id="16" name="Shape 16"/>
          <p:cNvSpPr/>
          <p:nvPr/>
        </p:nvSpPr>
        <p:spPr>
          <a:xfrm>
            <a:off x="5074920" y="4187952"/>
            <a:ext cx="6382512" cy="1444752"/>
          </a:xfrm>
          <a:prstGeom prst="roundRect">
            <a:avLst>
              <a:gd name="adj" fmla="val 6330"/>
            </a:avLst>
          </a:prstGeom>
          <a:solidFill>
            <a:srgbClr val="FCECEF"/>
          </a:solidFill>
          <a:ln w="12700">
            <a:solidFill>
              <a:srgbClr val="F1C9D2"/>
            </a:solidFill>
          </a:ln>
        </p:spPr>
      </p:sp>
      <p:sp>
        <p:nvSpPr>
          <p:cNvPr id="17" name="Shape 17"/>
          <p:cNvSpPr/>
          <p:nvPr/>
        </p:nvSpPr>
        <p:spPr>
          <a:xfrm>
            <a:off x="5321808" y="4416552"/>
            <a:ext cx="1444752" cy="310896"/>
          </a:xfrm>
          <a:prstGeom prst="roundRect">
            <a:avLst>
              <a:gd name="adj" fmla="val 52940"/>
            </a:avLst>
          </a:prstGeom>
          <a:solidFill>
            <a:srgbClr val="E85D75"/>
          </a:solidFill>
          <a:ln w="10160">
            <a:solidFill>
              <a:srgbClr val="E85D75"/>
            </a:solidFill>
          </a:ln>
        </p:spPr>
      </p:sp>
      <p:sp>
        <p:nvSpPr>
          <p:cNvPr id="18" name="Shape 18"/>
          <p:cNvSpPr/>
          <p:nvPr/>
        </p:nvSpPr>
        <p:spPr>
          <a:xfrm>
            <a:off x="5321808" y="4416552"/>
            <a:ext cx="1444752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0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Common issue</a:t>
            </a:r>
            <a:endParaRPr lang="en-US" sz="1020"/>
          </a:p>
        </p:txBody>
      </p:sp>
      <p:sp>
        <p:nvSpPr>
          <p:cNvPr id="19" name="Shape 19"/>
          <p:cNvSpPr/>
          <p:nvPr/>
        </p:nvSpPr>
        <p:spPr>
          <a:xfrm>
            <a:off x="6903720" y="4416552"/>
            <a:ext cx="4023360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550" b="1">
                <a:solidFill>
                  <a:srgbClr val="E85D75"/>
                </a:solidFill>
                <a:latin typeface="Noto Sans CJK SC"/>
                <a:ea typeface="Noto Sans CJK SC"/>
                <a:cs typeface="Noto Sans CJK SC"/>
              </a:rPr>
              <a:t>Single-step / Open-loop generation</a:t>
            </a:r>
            <a:endParaRPr lang="en-US" sz="1550"/>
          </a:p>
        </p:txBody>
      </p:sp>
      <p:sp>
        <p:nvSpPr>
          <p:cNvPr id="20" name="Shape 20"/>
          <p:cNvSpPr/>
          <p:nvPr/>
        </p:nvSpPr>
        <p:spPr>
          <a:xfrm>
            <a:off x="5340096" y="4882896"/>
            <a:ext cx="5990234" cy="47548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310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生成错了以后，没有reasoning、reflection，也没有iterative refinement。</a:t>
            </a:r>
            <a:endParaRPr lang="en-US" sz="1310"/>
          </a:p>
        </p:txBody>
      </p:sp>
      <p:sp>
        <p:nvSpPr>
          <p:cNvPr id="21" name="Shape 21"/>
          <p:cNvSpPr/>
          <p:nvPr/>
        </p:nvSpPr>
        <p:spPr>
          <a:xfrm>
            <a:off x="5175504" y="5806440"/>
            <a:ext cx="6163056" cy="475488"/>
          </a:xfrm>
          <a:prstGeom prst="roundRect">
            <a:avLst>
              <a:gd name="adj" fmla="val 19230"/>
            </a:avLst>
          </a:prstGeom>
          <a:solidFill>
            <a:srgbClr val="EEEAFB"/>
          </a:solidFill>
          <a:ln w="12700">
            <a:solidFill>
              <a:srgbClr val="6C5CE7"/>
            </a:solidFill>
          </a:ln>
        </p:spPr>
      </p:sp>
      <p:sp>
        <p:nvSpPr>
          <p:cNvPr id="22" name="Shape 22"/>
          <p:cNvSpPr/>
          <p:nvPr/>
        </p:nvSpPr>
        <p:spPr>
          <a:xfrm>
            <a:off x="5340096" y="5879592"/>
            <a:ext cx="5833872" cy="329184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500" b="1">
                <a:solidFill>
                  <a:srgbClr val="6C5CE7"/>
                </a:solidFill>
                <a:latin typeface="Noto Sans CJK SC"/>
                <a:ea typeface="Noto Sans CJK SC"/>
                <a:cs typeface="Noto Sans CJK SC"/>
              </a:rPr>
              <a:t>关键转变：把 anomaly synthesis 重定义为 sequential decision making</a:t>
            </a:r>
            <a:endParaRPr lang="en-US" sz="1500"/>
          </a:p>
        </p:txBody>
      </p:sp>
      <p:sp>
        <p:nvSpPr>
          <p:cNvPr id="23" name="Shape 23"/>
          <p:cNvSpPr/>
          <p:nvPr/>
        </p:nvSpPr>
        <p:spPr>
          <a:xfrm>
            <a:off x="612648" y="6547104"/>
            <a:ext cx="5303520" cy="16459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80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Paper screenshot: Fig.1 (p.1) · Su et al., arXiv:2604.07900</a:t>
            </a:r>
            <a:endParaRPr lang="en-US" sz="800"/>
          </a:p>
        </p:txBody>
      </p:sp>
      <p:sp>
        <p:nvSpPr>
          <p:cNvPr id="24" name="Shape 24"/>
          <p:cNvSpPr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r"/>
            <a:r>
              <a:rPr lang="en-US" sz="85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en-US" sz="850"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" y="64008"/>
            <a:ext cx="12041734" cy="6711696"/>
          </a:xfrm>
          <a:prstGeom prst="rect">
            <a:avLst/>
          </a:prstGeom>
          <a:noFill/>
          <a:ln w="10160">
            <a:solidFill>
              <a:srgbClr val="D2DBEE"/>
            </a:solidFill>
          </a:ln>
        </p:spPr>
      </p:sp>
      <p:sp>
        <p:nvSpPr>
          <p:cNvPr id="3" name="Shape 3"/>
          <p:cNvSpPr txBox="1"/>
          <p:nvPr/>
        </p:nvSpPr>
        <p:spPr>
          <a:xfrm>
            <a:off x="658368" y="286207"/>
            <a:ext cx="8046720" cy="50657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rIns="91440" tIns="45720" bIns="45720"/>
          <a:lstStyle/>
          <a:p>
            <a:pPr algn="l"/>
            <a:r>
              <a:rPr lang="en-US" sz="2700">
                <a:solidFill>
                  <a:srgbClr val="F4F7FF"/>
                </a:solidFill>
                <a:latin typeface="微软雅黑"/>
                <a:ea typeface="微软雅黑"/>
                <a:cs typeface="微软雅黑"/>
              </a:rPr>
              <a:t>Core Idea — 从 Open-loop 到 Closed-loop</a:t>
            </a:r>
            <a:endParaRPr lang="en-US" sz="2700"/>
          </a:p>
        </p:txBody>
      </p:sp>
      <p:sp>
        <p:nvSpPr>
          <p:cNvPr id="4" name="Shape 4"/>
          <p:cNvSpPr txBox="1"/>
          <p:nvPr/>
        </p:nvSpPr>
        <p:spPr>
          <a:xfrm>
            <a:off x="676656" y="740664"/>
            <a:ext cx="5669280" cy="28346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rIns="91440" tIns="45720" bIns="45720"/>
          <a:lstStyle/>
          <a:p>
            <a:pPr algn="l"/>
            <a:r>
              <a:rPr lang="en-US" sz="1250">
                <a:solidFill>
                  <a:srgbClr val="A4B3D7"/>
                </a:solidFill>
                <a:latin typeface="Segoe Print"/>
                <a:ea typeface="Segoe Print"/>
                <a:cs typeface="Segoe Print"/>
              </a:rPr>
              <a:t>Generation becomes an iterative optimization process.</a:t>
            </a:r>
            <a:endParaRPr lang="en-US" sz="1250"/>
          </a:p>
        </p:txBody>
      </p:sp>
      <p:sp>
        <p:nvSpPr>
          <p:cNvPr id="5" name="Shape 5"/>
          <p:cNvSpPr/>
          <p:nvPr/>
        </p:nvSpPr>
        <p:spPr>
          <a:xfrm>
            <a:off x="731520" y="1307592"/>
            <a:ext cx="1252728" cy="365760"/>
          </a:xfrm>
          <a:prstGeom prst="roundRect">
            <a:avLst/>
          </a:prstGeom>
          <a:solidFill>
            <a:srgbClr val="3385F6"/>
          </a:solidFill>
          <a:ln w="16510">
            <a:solidFill>
              <a:srgbClr val="3385F6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30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Perception</a:t>
            </a:r>
            <a:endParaRPr lang="en-US" sz="1300"/>
          </a:p>
        </p:txBody>
      </p:sp>
      <p:cxnSp>
        <p:nvCxnSpPr>
          <p:cNvPr id="6" name="Connector 6"/>
          <p:cNvCxnSpPr/>
          <p:nvPr/>
        </p:nvCxnSpPr>
        <p:spPr>
          <a:xfrm>
            <a:off x="2029968" y="1490472"/>
            <a:ext cx="530352" cy="0"/>
          </a:xfrm>
          <a:prstGeom prst="straightConnector1">
            <a:avLst/>
          </a:prstGeom>
          <a:ln w="25400">
            <a:solidFill>
              <a:srgbClr val="626E8B"/>
            </a:solidFill>
            <a:headEnd type="triangle" w="med" len="med"/>
            <a:tailEnd type="triangle" w="med" len="med"/>
          </a:ln>
        </p:spPr>
      </p:cxnSp>
      <p:sp>
        <p:nvSpPr>
          <p:cNvPr id="7" name="Shape 7"/>
          <p:cNvSpPr/>
          <p:nvPr/>
        </p:nvSpPr>
        <p:spPr>
          <a:xfrm>
            <a:off x="2615184" y="1307592"/>
            <a:ext cx="1353312" cy="365760"/>
          </a:xfrm>
          <a:prstGeom prst="roundRect">
            <a:avLst/>
          </a:prstGeom>
          <a:solidFill>
            <a:srgbClr val="6C53E1"/>
          </a:solidFill>
          <a:ln w="16510">
            <a:solidFill>
              <a:srgbClr val="6C53E1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30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Reflection</a:t>
            </a:r>
            <a:endParaRPr lang="en-US" sz="1300"/>
          </a:p>
        </p:txBody>
      </p:sp>
      <p:cxnSp>
        <p:nvCxnSpPr>
          <p:cNvPr id="8" name="Connector 8"/>
          <p:cNvCxnSpPr/>
          <p:nvPr/>
        </p:nvCxnSpPr>
        <p:spPr>
          <a:xfrm>
            <a:off x="4014216" y="1490472"/>
            <a:ext cx="484632" cy="0"/>
          </a:xfrm>
          <a:prstGeom prst="straightConnector1">
            <a:avLst/>
          </a:prstGeom>
          <a:ln w="25400">
            <a:solidFill>
              <a:srgbClr val="626E8B"/>
            </a:solidFill>
            <a:headEnd type="triangle" w="med" len="med"/>
            <a:tailEnd type="triangle" w="med" len="med"/>
          </a:ln>
        </p:spPr>
      </p:cxnSp>
      <p:sp>
        <p:nvSpPr>
          <p:cNvPr id="9" name="Shape 9"/>
          <p:cNvSpPr/>
          <p:nvPr/>
        </p:nvSpPr>
        <p:spPr>
          <a:xfrm>
            <a:off x="4562856" y="1307592"/>
            <a:ext cx="1143000" cy="365760"/>
          </a:xfrm>
          <a:prstGeom prst="roundRect">
            <a:avLst/>
          </a:prstGeom>
          <a:solidFill>
            <a:srgbClr val="26AC6F"/>
          </a:solidFill>
          <a:ln w="16510">
            <a:solidFill>
              <a:srgbClr val="26AC6F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30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Action</a:t>
            </a:r>
            <a:endParaRPr lang="en-US" sz="1300"/>
          </a:p>
        </p:txBody>
      </p:sp>
      <p:sp>
        <p:nvSpPr>
          <p:cNvPr id="10" name="Shape 10"/>
          <p:cNvSpPr txBox="1"/>
          <p:nvPr/>
        </p:nvSpPr>
        <p:spPr>
          <a:xfrm>
            <a:off x="6199632" y="1327709"/>
            <a:ext cx="4983480" cy="30632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rIns="91440" tIns="45720" bIns="45720"/>
          <a:lstStyle/>
          <a:p>
            <a:pPr algn="l"/>
            <a:r>
              <a:rPr lang="en-US" sz="1400">
                <a:solidFill>
                  <a:srgbClr val="F4F7FF"/>
                </a:solidFill>
                <a:latin typeface="微软雅黑"/>
                <a:ea typeface="微软雅黑"/>
                <a:cs typeface="微软雅黑"/>
              </a:rPr>
              <a:t>允许第一次失败，关键是让系统知道“哪里错了、怎么改”。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768096" y="2816352"/>
            <a:ext cx="1216152" cy="822960"/>
          </a:xfrm>
          <a:prstGeom prst="roundRect">
            <a:avLst/>
          </a:prstGeom>
          <a:solidFill>
            <a:srgbClr val="19223A"/>
          </a:solidFill>
          <a:ln w="16510">
            <a:solidFill>
              <a:srgbClr val="626E8B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60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Normal</a:t>
            </a:r>
            <a:endParaRPr lang="en-US" sz="1600"/>
          </a:p>
          <a:p>
            <a:pPr algn="ctr"/>
            <a:r>
              <a:rPr lang="en-US" sz="160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Image</a:t>
            </a:r>
            <a:endParaRPr lang="en-US" sz="1600"/>
          </a:p>
        </p:txBody>
      </p:sp>
      <p:sp>
        <p:nvSpPr>
          <p:cNvPr id="12" name="Shape 12"/>
          <p:cNvSpPr/>
          <p:nvPr/>
        </p:nvSpPr>
        <p:spPr>
          <a:xfrm>
            <a:off x="2404872" y="2816352"/>
            <a:ext cx="1234440" cy="822960"/>
          </a:xfrm>
          <a:prstGeom prst="roundRect">
            <a:avLst/>
          </a:prstGeom>
          <a:solidFill>
            <a:srgbClr val="19223A"/>
          </a:solidFill>
          <a:ln w="16510">
            <a:solidFill>
              <a:srgbClr val="626E8B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42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Prompt</a:t>
            </a:r>
            <a:endParaRPr lang="en-US" sz="1420"/>
          </a:p>
          <a:p>
            <a:pPr algn="ctr"/>
            <a:r>
              <a:rPr lang="en-US" sz="142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Generation</a:t>
            </a:r>
            <a:endParaRPr lang="en-US" sz="1420"/>
          </a:p>
        </p:txBody>
      </p:sp>
      <p:sp>
        <p:nvSpPr>
          <p:cNvPr id="13" name="Shape 13"/>
          <p:cNvSpPr/>
          <p:nvPr/>
        </p:nvSpPr>
        <p:spPr>
          <a:xfrm>
            <a:off x="4041648" y="2816352"/>
            <a:ext cx="1234440" cy="822960"/>
          </a:xfrm>
          <a:prstGeom prst="roundRect">
            <a:avLst/>
          </a:prstGeom>
          <a:solidFill>
            <a:srgbClr val="302859"/>
          </a:solidFill>
          <a:ln w="16510">
            <a:solidFill>
              <a:srgbClr val="6C53E1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43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Image</a:t>
            </a:r>
            <a:endParaRPr lang="en-US" sz="1430"/>
          </a:p>
          <a:p>
            <a:pPr algn="ctr"/>
            <a:r>
              <a:rPr lang="en-US" sz="143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Generation</a:t>
            </a:r>
            <a:endParaRPr lang="en-US" sz="1430"/>
          </a:p>
        </p:txBody>
      </p:sp>
      <p:sp>
        <p:nvSpPr>
          <p:cNvPr id="14" name="Shape 14"/>
          <p:cNvSpPr/>
          <p:nvPr/>
        </p:nvSpPr>
        <p:spPr>
          <a:xfrm>
            <a:off x="5678424" y="2816352"/>
            <a:ext cx="1234440" cy="822960"/>
          </a:xfrm>
          <a:prstGeom prst="roundRect">
            <a:avLst/>
          </a:prstGeom>
          <a:solidFill>
            <a:srgbClr val="263653"/>
          </a:solidFill>
          <a:ln w="16510">
            <a:solidFill>
              <a:srgbClr val="626E8B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43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Quality</a:t>
            </a:r>
            <a:endParaRPr lang="en-US" sz="1430"/>
          </a:p>
          <a:p>
            <a:pPr algn="ctr"/>
            <a:r>
              <a:rPr lang="en-US" sz="143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Evaluation</a:t>
            </a:r>
            <a:endParaRPr lang="en-US" sz="1430"/>
          </a:p>
        </p:txBody>
      </p:sp>
      <p:sp>
        <p:nvSpPr>
          <p:cNvPr id="15" name="Shape 15"/>
          <p:cNvSpPr/>
          <p:nvPr/>
        </p:nvSpPr>
        <p:spPr>
          <a:xfrm>
            <a:off x="7388352" y="2770632"/>
            <a:ext cx="1069848" cy="932688"/>
          </a:xfrm>
          <a:prstGeom prst="diamond">
            <a:avLst/>
          </a:prstGeom>
          <a:solidFill>
            <a:srgbClr val="43331F"/>
          </a:solidFill>
          <a:ln w="16510">
            <a:solidFill>
              <a:srgbClr val="806031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30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Good?</a:t>
            </a:r>
            <a:endParaRPr lang="en-US" sz="1300"/>
          </a:p>
        </p:txBody>
      </p:sp>
      <p:sp>
        <p:nvSpPr>
          <p:cNvPr id="16" name="Shape 16"/>
          <p:cNvSpPr/>
          <p:nvPr/>
        </p:nvSpPr>
        <p:spPr>
          <a:xfrm>
            <a:off x="8978494" y="2816352"/>
            <a:ext cx="1234440" cy="822960"/>
          </a:xfrm>
          <a:prstGeom prst="roundRect">
            <a:avLst/>
          </a:prstGeom>
          <a:solidFill>
            <a:srgbClr val="123930"/>
          </a:solidFill>
          <a:ln w="16510">
            <a:solidFill>
              <a:srgbClr val="26AC6F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42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Mask</a:t>
            </a:r>
            <a:endParaRPr lang="en-US" sz="1420"/>
          </a:p>
          <a:p>
            <a:pPr algn="ctr"/>
            <a:r>
              <a:rPr lang="en-US" sz="142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Generation</a:t>
            </a:r>
            <a:endParaRPr lang="en-US" sz="1420"/>
          </a:p>
        </p:txBody>
      </p:sp>
      <p:sp>
        <p:nvSpPr>
          <p:cNvPr id="17" name="Shape 17"/>
          <p:cNvSpPr/>
          <p:nvPr/>
        </p:nvSpPr>
        <p:spPr>
          <a:xfrm>
            <a:off x="10633558" y="2816352"/>
            <a:ext cx="1097280" cy="822960"/>
          </a:xfrm>
          <a:prstGeom prst="roundRect">
            <a:avLst/>
          </a:prstGeom>
          <a:solidFill>
            <a:srgbClr val="123930"/>
          </a:solidFill>
          <a:ln w="16510">
            <a:solidFill>
              <a:srgbClr val="26AC6F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220">
                <a:solidFill>
                  <a:srgbClr val="26AC6F"/>
                </a:solidFill>
                <a:latin typeface="Segoe Print"/>
                <a:ea typeface="Segoe Print"/>
                <a:cs typeface="Segoe Print"/>
              </a:rPr>
              <a:t>Output</a:t>
            </a:r>
            <a:endParaRPr lang="en-US" sz="1220"/>
          </a:p>
          <a:p>
            <a:pPr algn="ctr"/>
            <a:r>
              <a:rPr lang="en-US" sz="1220">
                <a:solidFill>
                  <a:srgbClr val="26AC6F"/>
                </a:solidFill>
                <a:latin typeface="Segoe Print"/>
                <a:ea typeface="Segoe Print"/>
                <a:cs typeface="Segoe Print"/>
              </a:rPr>
              <a:t>Image +</a:t>
            </a:r>
            <a:endParaRPr lang="en-US" sz="1220"/>
          </a:p>
          <a:p>
            <a:pPr algn="ctr"/>
            <a:r>
              <a:rPr lang="en-US" sz="1220">
                <a:solidFill>
                  <a:srgbClr val="26AC6F"/>
                </a:solidFill>
                <a:latin typeface="Segoe Print"/>
                <a:ea typeface="Segoe Print"/>
                <a:cs typeface="Segoe Print"/>
              </a:rPr>
              <a:t>Mask</a:t>
            </a:r>
            <a:endParaRPr lang="en-US" sz="1220"/>
          </a:p>
        </p:txBody>
      </p:sp>
      <p:cxnSp>
        <p:nvCxnSpPr>
          <p:cNvPr id="18" name="Connector 18"/>
          <p:cNvCxnSpPr/>
          <p:nvPr/>
        </p:nvCxnSpPr>
        <p:spPr>
          <a:xfrm>
            <a:off x="1984248" y="3227832"/>
            <a:ext cx="374904" cy="0"/>
          </a:xfrm>
          <a:prstGeom prst="straightConnector1">
            <a:avLst/>
          </a:prstGeom>
          <a:ln w="25400">
            <a:solidFill>
              <a:srgbClr val="626E8B"/>
            </a:solidFill>
            <a:headEnd type="triangle" w="med" len="med"/>
            <a:tailEnd type="triangle" w="med" len="med"/>
          </a:ln>
        </p:spPr>
      </p:cxnSp>
      <p:cxnSp>
        <p:nvCxnSpPr>
          <p:cNvPr id="19" name="Connector 19"/>
          <p:cNvCxnSpPr/>
          <p:nvPr/>
        </p:nvCxnSpPr>
        <p:spPr>
          <a:xfrm>
            <a:off x="3639312" y="3227832"/>
            <a:ext cx="356616" cy="0"/>
          </a:xfrm>
          <a:prstGeom prst="straightConnector1">
            <a:avLst/>
          </a:prstGeom>
          <a:ln w="25400">
            <a:solidFill>
              <a:srgbClr val="626E8B"/>
            </a:solidFill>
            <a:headEnd type="triangle" w="med" len="med"/>
            <a:tailEnd type="triangle" w="med" len="med"/>
          </a:ln>
        </p:spPr>
      </p:cxnSp>
      <p:cxnSp>
        <p:nvCxnSpPr>
          <p:cNvPr id="20" name="Connector 20"/>
          <p:cNvCxnSpPr/>
          <p:nvPr/>
        </p:nvCxnSpPr>
        <p:spPr>
          <a:xfrm>
            <a:off x="5276088" y="3227832"/>
            <a:ext cx="356616" cy="0"/>
          </a:xfrm>
          <a:prstGeom prst="straightConnector1">
            <a:avLst/>
          </a:prstGeom>
          <a:ln w="25400">
            <a:solidFill>
              <a:srgbClr val="626E8B"/>
            </a:solidFill>
            <a:headEnd type="triangle" w="med" len="med"/>
            <a:tailEnd type="triangle" w="med" len="med"/>
          </a:ln>
        </p:spPr>
      </p:cxnSp>
      <p:cxnSp>
        <p:nvCxnSpPr>
          <p:cNvPr id="21" name="Connector 21"/>
          <p:cNvCxnSpPr/>
          <p:nvPr/>
        </p:nvCxnSpPr>
        <p:spPr>
          <a:xfrm>
            <a:off x="6912864" y="3227832"/>
            <a:ext cx="420624" cy="0"/>
          </a:xfrm>
          <a:prstGeom prst="straightConnector1">
            <a:avLst/>
          </a:prstGeom>
          <a:ln w="25400">
            <a:solidFill>
              <a:srgbClr val="626E8B"/>
            </a:solidFill>
            <a:headEnd type="triangle" w="med" len="med"/>
            <a:tailEnd type="triangle" w="med" len="med"/>
          </a:ln>
        </p:spPr>
      </p:cxnSp>
      <p:cxnSp>
        <p:nvCxnSpPr>
          <p:cNvPr id="22" name="Connector 22"/>
          <p:cNvCxnSpPr/>
          <p:nvPr/>
        </p:nvCxnSpPr>
        <p:spPr>
          <a:xfrm>
            <a:off x="8457286" y="3227832"/>
            <a:ext cx="466344" cy="0"/>
          </a:xfrm>
          <a:prstGeom prst="straightConnector1">
            <a:avLst/>
          </a:prstGeom>
          <a:ln w="29210">
            <a:solidFill>
              <a:srgbClr val="2DD385"/>
            </a:solidFill>
            <a:headEnd type="triangle" w="med" len="med"/>
            <a:tailEnd type="triangle" w="med" len="med"/>
          </a:ln>
        </p:spPr>
      </p:cxnSp>
      <p:sp>
        <p:nvSpPr>
          <p:cNvPr id="23" name="Shape 23"/>
          <p:cNvSpPr txBox="1"/>
          <p:nvPr/>
        </p:nvSpPr>
        <p:spPr>
          <a:xfrm>
            <a:off x="8539582" y="2866644"/>
            <a:ext cx="365760" cy="38313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50">
                <a:solidFill>
                  <a:srgbClr val="2DD385"/>
                </a:solidFill>
                <a:latin typeface="Segoe Print"/>
                <a:ea typeface="Segoe Print"/>
                <a:cs typeface="Segoe Print"/>
              </a:rPr>
              <a:t>YES</a:t>
            </a:r>
            <a:endParaRPr lang="en-US" sz="950"/>
          </a:p>
        </p:txBody>
      </p:sp>
      <p:cxnSp>
        <p:nvCxnSpPr>
          <p:cNvPr id="24" name="Connector 24"/>
          <p:cNvCxnSpPr/>
          <p:nvPr/>
        </p:nvCxnSpPr>
        <p:spPr>
          <a:xfrm>
            <a:off x="10212934" y="3227832"/>
            <a:ext cx="365760" cy="0"/>
          </a:xfrm>
          <a:prstGeom prst="straightConnector1">
            <a:avLst/>
          </a:prstGeom>
          <a:ln w="29210">
            <a:solidFill>
              <a:srgbClr val="2DD385"/>
            </a:solidFill>
            <a:headEnd type="triangle" w="med" len="med"/>
            <a:tailEnd type="triangle" w="med" len="med"/>
          </a:ln>
        </p:spPr>
      </p:cxnSp>
      <p:sp>
        <p:nvSpPr>
          <p:cNvPr id="25" name="Shape 25"/>
          <p:cNvSpPr/>
          <p:nvPr/>
        </p:nvSpPr>
        <p:spPr>
          <a:xfrm>
            <a:off x="7114032" y="4279392"/>
            <a:ext cx="1417320" cy="640080"/>
          </a:xfrm>
          <a:prstGeom prst="roundRect">
            <a:avLst/>
          </a:prstGeom>
          <a:solidFill>
            <a:srgbClr val="302859"/>
          </a:solidFill>
          <a:ln w="16510">
            <a:solidFill>
              <a:srgbClr val="6C53E1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350">
                <a:solidFill>
                  <a:srgbClr val="967EFF"/>
                </a:solidFill>
                <a:latin typeface="Segoe Print"/>
                <a:ea typeface="Segoe Print"/>
                <a:cs typeface="Segoe Print"/>
              </a:rPr>
              <a:t>Self-</a:t>
            </a:r>
            <a:endParaRPr lang="en-US" sz="1350"/>
          </a:p>
          <a:p>
            <a:pPr algn="ctr"/>
            <a:r>
              <a:rPr lang="en-US" sz="1350">
                <a:solidFill>
                  <a:srgbClr val="967EFF"/>
                </a:solidFill>
                <a:latin typeface="Segoe Print"/>
                <a:ea typeface="Segoe Print"/>
                <a:cs typeface="Segoe Print"/>
              </a:rPr>
              <a:t>Reflection</a:t>
            </a:r>
            <a:endParaRPr lang="en-US" sz="1350"/>
          </a:p>
        </p:txBody>
      </p:sp>
      <p:sp>
        <p:nvSpPr>
          <p:cNvPr id="26" name="Shape 26"/>
          <p:cNvSpPr/>
          <p:nvPr/>
        </p:nvSpPr>
        <p:spPr>
          <a:xfrm>
            <a:off x="5632704" y="4261104"/>
            <a:ext cx="987552" cy="694944"/>
          </a:xfrm>
          <a:prstGeom prst="diamond">
            <a:avLst/>
          </a:prstGeom>
          <a:solidFill>
            <a:srgbClr val="43331F"/>
          </a:solidFill>
          <a:ln w="16510">
            <a:solidFill>
              <a:srgbClr val="806031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05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Need</a:t>
            </a:r>
            <a:endParaRPr lang="en-US" sz="1050"/>
          </a:p>
          <a:p>
            <a:pPr algn="ctr"/>
            <a:r>
              <a:rPr lang="en-US" sz="105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KR?</a:t>
            </a:r>
            <a:endParaRPr lang="en-US" sz="1050"/>
          </a:p>
        </p:txBody>
      </p:sp>
      <p:sp>
        <p:nvSpPr>
          <p:cNvPr id="27" name="Shape 27"/>
          <p:cNvSpPr/>
          <p:nvPr/>
        </p:nvSpPr>
        <p:spPr>
          <a:xfrm>
            <a:off x="3794760" y="4270248"/>
            <a:ext cx="1389888" cy="658368"/>
          </a:xfrm>
          <a:prstGeom prst="roundRect">
            <a:avLst/>
          </a:prstGeom>
          <a:solidFill>
            <a:srgbClr val="123930"/>
          </a:solidFill>
          <a:ln w="16510">
            <a:solidFill>
              <a:srgbClr val="26AC6F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240">
                <a:solidFill>
                  <a:srgbClr val="26AC6F"/>
                </a:solidFill>
                <a:latin typeface="Segoe Print"/>
                <a:ea typeface="Segoe Print"/>
                <a:cs typeface="Segoe Print"/>
              </a:rPr>
              <a:t>Knowledge</a:t>
            </a:r>
            <a:endParaRPr lang="en-US" sz="1240"/>
          </a:p>
          <a:p>
            <a:pPr algn="ctr"/>
            <a:r>
              <a:rPr lang="en-US" sz="1240">
                <a:solidFill>
                  <a:srgbClr val="26AC6F"/>
                </a:solidFill>
                <a:latin typeface="Segoe Print"/>
                <a:ea typeface="Segoe Print"/>
                <a:cs typeface="Segoe Print"/>
              </a:rPr>
              <a:t>Retrieval</a:t>
            </a:r>
            <a:endParaRPr lang="en-US" sz="1240"/>
          </a:p>
        </p:txBody>
      </p:sp>
      <p:sp>
        <p:nvSpPr>
          <p:cNvPr id="28" name="Shape 28"/>
          <p:cNvSpPr/>
          <p:nvPr/>
        </p:nvSpPr>
        <p:spPr>
          <a:xfrm>
            <a:off x="2048256" y="4270248"/>
            <a:ext cx="1344168" cy="658368"/>
          </a:xfrm>
          <a:prstGeom prst="roundRect">
            <a:avLst/>
          </a:prstGeom>
          <a:solidFill>
            <a:srgbClr val="302859"/>
          </a:solidFill>
          <a:ln w="16510">
            <a:solidFill>
              <a:srgbClr val="6C53E1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300">
                <a:solidFill>
                  <a:srgbClr val="9A7EFF"/>
                </a:solidFill>
                <a:latin typeface="Segoe Print"/>
                <a:ea typeface="Segoe Print"/>
                <a:cs typeface="Segoe Print"/>
              </a:rPr>
              <a:t>Refine</a:t>
            </a:r>
            <a:endParaRPr lang="en-US" sz="1300"/>
          </a:p>
          <a:p>
            <a:pPr algn="ctr"/>
            <a:r>
              <a:rPr lang="en-US" sz="1300">
                <a:solidFill>
                  <a:srgbClr val="9A7EFF"/>
                </a:solidFill>
                <a:latin typeface="Segoe Print"/>
                <a:ea typeface="Segoe Print"/>
                <a:cs typeface="Segoe Print"/>
              </a:rPr>
              <a:t>Prompt</a:t>
            </a:r>
            <a:endParaRPr lang="en-US" sz="1300"/>
          </a:p>
        </p:txBody>
      </p:sp>
      <p:cxnSp>
        <p:nvCxnSpPr>
          <p:cNvPr id="29" name="Connector 29"/>
          <p:cNvCxnSpPr/>
          <p:nvPr/>
        </p:nvCxnSpPr>
        <p:spPr>
          <a:xfrm>
            <a:off x="7923276" y="3694176"/>
            <a:ext cx="0" cy="530352"/>
          </a:xfrm>
          <a:prstGeom prst="straightConnector1">
            <a:avLst/>
          </a:prstGeom>
          <a:ln w="27940">
            <a:solidFill>
              <a:srgbClr val="FF5269"/>
            </a:solidFill>
            <a:headEnd type="triangle" w="med" len="med"/>
            <a:tailEnd type="triangle" w="med" len="med"/>
          </a:ln>
        </p:spPr>
      </p:cxnSp>
      <p:sp>
        <p:nvSpPr>
          <p:cNvPr id="30" name="Shape 30"/>
          <p:cNvSpPr txBox="1"/>
          <p:nvPr/>
        </p:nvSpPr>
        <p:spPr>
          <a:xfrm>
            <a:off x="8009230" y="3761842"/>
            <a:ext cx="310896" cy="36850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00">
                <a:solidFill>
                  <a:srgbClr val="FF5269"/>
                </a:solidFill>
                <a:latin typeface="Segoe Print"/>
                <a:ea typeface="Segoe Print"/>
                <a:cs typeface="Segoe Print"/>
              </a:rPr>
              <a:t>NO</a:t>
            </a:r>
            <a:endParaRPr lang="en-US" sz="900"/>
          </a:p>
        </p:txBody>
      </p:sp>
      <p:cxnSp>
        <p:nvCxnSpPr>
          <p:cNvPr id="31" name="Connector 31"/>
          <p:cNvCxnSpPr/>
          <p:nvPr/>
        </p:nvCxnSpPr>
        <p:spPr>
          <a:xfrm flipH="1">
            <a:off x="6647688" y="4599432"/>
            <a:ext cx="420624" cy="0"/>
          </a:xfrm>
          <a:prstGeom prst="straightConnector1">
            <a:avLst/>
          </a:prstGeom>
          <a:ln w="24130">
            <a:solidFill>
              <a:srgbClr val="626E8B"/>
            </a:solidFill>
            <a:headEnd type="triangle" w="med" len="med"/>
            <a:tailEnd type="triangle" w="med" len="med"/>
          </a:ln>
        </p:spPr>
      </p:cxnSp>
      <p:cxnSp>
        <p:nvCxnSpPr>
          <p:cNvPr id="32" name="Connector 32"/>
          <p:cNvCxnSpPr/>
          <p:nvPr/>
        </p:nvCxnSpPr>
        <p:spPr>
          <a:xfrm flipH="1">
            <a:off x="5230368" y="4599432"/>
            <a:ext cx="365760" cy="0"/>
          </a:xfrm>
          <a:prstGeom prst="straightConnector1">
            <a:avLst/>
          </a:prstGeom>
          <a:ln w="24130">
            <a:solidFill>
              <a:srgbClr val="26AC6F"/>
            </a:solidFill>
            <a:headEnd type="triangle" w="med" len="med"/>
            <a:tailEnd type="triangle" w="med" len="med"/>
          </a:ln>
        </p:spPr>
      </p:cxnSp>
      <p:sp>
        <p:nvSpPr>
          <p:cNvPr id="33" name="Shape 33"/>
          <p:cNvSpPr txBox="1"/>
          <p:nvPr/>
        </p:nvSpPr>
        <p:spPr>
          <a:xfrm>
            <a:off x="5285232" y="4195267"/>
            <a:ext cx="274320" cy="45994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00">
                <a:solidFill>
                  <a:srgbClr val="26AC6F"/>
                </a:solidFill>
                <a:latin typeface="Segoe Print"/>
                <a:ea typeface="Segoe Print"/>
                <a:cs typeface="Segoe Print"/>
              </a:rPr>
              <a:t>YES</a:t>
            </a:r>
            <a:endParaRPr lang="en-US" sz="800"/>
          </a:p>
        </p:txBody>
      </p:sp>
      <p:cxnSp>
        <p:nvCxnSpPr>
          <p:cNvPr id="34" name="Connector 34"/>
          <p:cNvCxnSpPr/>
          <p:nvPr/>
        </p:nvCxnSpPr>
        <p:spPr>
          <a:xfrm flipH="1">
            <a:off x="3438144" y="4599432"/>
            <a:ext cx="310896" cy="0"/>
          </a:xfrm>
          <a:prstGeom prst="straightConnector1">
            <a:avLst/>
          </a:prstGeom>
          <a:ln w="24130">
            <a:solidFill>
              <a:srgbClr val="626E8B"/>
            </a:solidFill>
            <a:headEnd type="triangle" w="med" len="med"/>
            <a:tailEnd type="triangle" w="med" len="med"/>
          </a:ln>
        </p:spPr>
      </p:cxnSp>
      <p:sp>
        <p:nvSpPr>
          <p:cNvPr id="35" name="Shape 35"/>
          <p:cNvSpPr txBox="1"/>
          <p:nvPr/>
        </p:nvSpPr>
        <p:spPr>
          <a:xfrm>
            <a:off x="3977640" y="4927702"/>
            <a:ext cx="1024128" cy="22128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50">
                <a:solidFill>
                  <a:srgbClr val="A4B3D7"/>
                </a:solidFill>
                <a:latin typeface="Segoe Print"/>
                <a:ea typeface="Segoe Print"/>
                <a:cs typeface="Segoe Print"/>
              </a:rPr>
              <a:t>(optional)</a:t>
            </a:r>
            <a:endParaRPr lang="en-US" sz="850"/>
          </a:p>
        </p:txBody>
      </p:sp>
      <p:cxnSp>
        <p:nvCxnSpPr>
          <p:cNvPr id="36" name="Connector 36"/>
          <p:cNvCxnSpPr/>
          <p:nvPr/>
        </p:nvCxnSpPr>
        <p:spPr>
          <a:xfrm>
            <a:off x="6126480" y="4956048"/>
            <a:ext cx="0" cy="329184"/>
          </a:xfrm>
          <a:prstGeom prst="straightConnector1">
            <a:avLst/>
          </a:prstGeom>
          <a:ln w="20320">
            <a:solidFill>
              <a:srgbClr val="626E8B"/>
            </a:solidFill>
            <a:headEnd type="triangle" w="med" len="med"/>
          </a:ln>
        </p:spPr>
      </p:cxnSp>
      <p:cxnSp>
        <p:nvCxnSpPr>
          <p:cNvPr id="37" name="Connector 37"/>
          <p:cNvCxnSpPr/>
          <p:nvPr/>
        </p:nvCxnSpPr>
        <p:spPr>
          <a:xfrm flipH="1">
            <a:off x="2724912" y="5285232"/>
            <a:ext cx="3401568" cy="0"/>
          </a:xfrm>
          <a:prstGeom prst="straightConnector1">
            <a:avLst/>
          </a:prstGeom>
          <a:ln w="20320">
            <a:solidFill>
              <a:srgbClr val="626E8B"/>
            </a:solidFill>
            <a:headEnd type="triangle" w="med" len="med"/>
          </a:ln>
        </p:spPr>
      </p:cxnSp>
      <p:cxnSp>
        <p:nvCxnSpPr>
          <p:cNvPr id="38" name="Connector 38"/>
          <p:cNvCxnSpPr/>
          <p:nvPr/>
        </p:nvCxnSpPr>
        <p:spPr>
          <a:xfrm flipV="1">
            <a:off x="2724912" y="4974336"/>
            <a:ext cx="0" cy="310896"/>
          </a:xfrm>
          <a:prstGeom prst="straightConnector1">
            <a:avLst/>
          </a:prstGeom>
          <a:ln w="20320">
            <a:solidFill>
              <a:srgbClr val="626E8B"/>
            </a:solidFill>
            <a:headEnd type="triangle" w="med" len="med"/>
            <a:tailEnd type="triangle" w="med" len="med"/>
          </a:ln>
        </p:spPr>
      </p:cxnSp>
      <p:sp>
        <p:nvSpPr>
          <p:cNvPr id="39" name="Shape 39"/>
          <p:cNvSpPr txBox="1"/>
          <p:nvPr/>
        </p:nvSpPr>
        <p:spPr>
          <a:xfrm>
            <a:off x="5715000" y="4942332"/>
            <a:ext cx="310896" cy="33741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00">
                <a:solidFill>
                  <a:srgbClr val="A4B3D7"/>
                </a:solidFill>
                <a:latin typeface="Segoe Print"/>
                <a:ea typeface="Segoe Print"/>
                <a:cs typeface="Segoe Print"/>
              </a:rPr>
              <a:t>NO</a:t>
            </a:r>
            <a:endParaRPr lang="en-US" sz="800"/>
          </a:p>
        </p:txBody>
      </p:sp>
      <p:cxnSp>
        <p:nvCxnSpPr>
          <p:cNvPr id="40" name="Connector 40"/>
          <p:cNvCxnSpPr/>
          <p:nvPr/>
        </p:nvCxnSpPr>
        <p:spPr>
          <a:xfrm flipV="1">
            <a:off x="2724912" y="3922776"/>
            <a:ext cx="0" cy="310896"/>
          </a:xfrm>
          <a:prstGeom prst="straightConnector1">
            <a:avLst/>
          </a:prstGeom>
          <a:ln w="25400">
            <a:solidFill>
              <a:srgbClr val="626E8B"/>
            </a:solidFill>
            <a:headEnd type="triangle" w="med" len="med"/>
          </a:ln>
        </p:spPr>
      </p:cxnSp>
      <p:cxnSp>
        <p:nvCxnSpPr>
          <p:cNvPr id="41" name="Connector 41"/>
          <p:cNvCxnSpPr/>
          <p:nvPr/>
        </p:nvCxnSpPr>
        <p:spPr>
          <a:xfrm>
            <a:off x="2724912" y="3922776"/>
            <a:ext cx="1933956" cy="0"/>
          </a:xfrm>
          <a:prstGeom prst="straightConnector1">
            <a:avLst/>
          </a:prstGeom>
          <a:ln w="25400">
            <a:solidFill>
              <a:srgbClr val="626E8B"/>
            </a:solidFill>
            <a:headEnd type="triangle" w="med" len="med"/>
          </a:ln>
        </p:spPr>
      </p:cxnSp>
      <p:cxnSp>
        <p:nvCxnSpPr>
          <p:cNvPr id="42" name="Connector 42"/>
          <p:cNvCxnSpPr/>
          <p:nvPr/>
        </p:nvCxnSpPr>
        <p:spPr>
          <a:xfrm flipV="1">
            <a:off x="4658868" y="3694176"/>
            <a:ext cx="0" cy="228600"/>
          </a:xfrm>
          <a:prstGeom prst="straightConnector1">
            <a:avLst/>
          </a:prstGeom>
          <a:ln w="27940">
            <a:solidFill>
              <a:srgbClr val="6C53E1"/>
            </a:solidFill>
            <a:headEnd type="triangle" w="med" len="med"/>
            <a:tailEnd type="triangle" w="med" len="med"/>
          </a:ln>
        </p:spPr>
      </p:cxnSp>
      <p:sp>
        <p:nvSpPr>
          <p:cNvPr id="43" name="Shape 43"/>
          <p:cNvSpPr/>
          <p:nvPr/>
        </p:nvSpPr>
        <p:spPr>
          <a:xfrm>
            <a:off x="3511296" y="5669280"/>
            <a:ext cx="5102352" cy="438912"/>
          </a:xfrm>
          <a:prstGeom prst="roundRect">
            <a:avLst/>
          </a:prstGeom>
          <a:solidFill>
            <a:srgbClr val="1D2744"/>
          </a:solidFill>
          <a:ln w="12700">
            <a:solidFill>
              <a:srgbClr val="C9D3EC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500">
                <a:solidFill>
                  <a:srgbClr val="F4F7FF"/>
                </a:solidFill>
                <a:latin typeface="Segoe Print"/>
                <a:ea typeface="Segoe Print"/>
                <a:cs typeface="Segoe Print"/>
              </a:rPr>
              <a:t>Closed-loop optimization</a:t>
            </a:r>
            <a:endParaRPr lang="en-US" sz="1500"/>
          </a:p>
        </p:txBody>
      </p:sp>
      <p:sp>
        <p:nvSpPr>
          <p:cNvPr id="44" name="Shape 44"/>
          <p:cNvSpPr txBox="1"/>
          <p:nvPr/>
        </p:nvSpPr>
        <p:spPr>
          <a:xfrm>
            <a:off x="658368" y="6379769"/>
            <a:ext cx="2560320" cy="20665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rIns="91440" tIns="45720" bIns="45720"/>
          <a:lstStyle/>
          <a:p>
            <a:pPr algn="l"/>
            <a:r>
              <a:rPr lang="en-US" sz="750">
                <a:solidFill>
                  <a:srgbClr val="697CA9"/>
                </a:solidFill>
                <a:latin typeface="Segoe Print"/>
                <a:ea typeface="Segoe Print"/>
                <a:cs typeface="Segoe Print"/>
              </a:rPr>
              <a:t>Su et al., arXiv:2604.07900</a:t>
            </a:r>
            <a:endParaRPr lang="en-US" sz="750"/>
          </a:p>
        </p:txBody>
      </p:sp>
      <p:sp>
        <p:nvSpPr>
          <p:cNvPr id="45" name="Shape 45"/>
          <p:cNvSpPr txBox="1"/>
          <p:nvPr/>
        </p:nvSpPr>
        <p:spPr>
          <a:xfrm>
            <a:off x="11191342" y="6376111"/>
            <a:ext cx="365760" cy="213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91440" rIns="91440" tIns="45720" bIns="45720"/>
          <a:lstStyle/>
          <a:p>
            <a:pPr algn="r"/>
            <a:r>
              <a:rPr lang="en-US" sz="800">
                <a:solidFill>
                  <a:srgbClr val="697CA9"/>
                </a:solidFill>
                <a:latin typeface="Segoe Print"/>
                <a:ea typeface="Segoe Print"/>
                <a:cs typeface="Segoe Print"/>
              </a:rPr>
              <a:t>04</a:t>
            </a:r>
            <a:endParaRPr lang="en-US" sz="800"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94360" y="292608"/>
            <a:ext cx="9966960" cy="50292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2600" b="1">
                <a:solidFill>
                  <a:srgbClr val="0B1020"/>
                </a:solidFill>
                <a:latin typeface="Noto Sans CJK SC"/>
                <a:ea typeface="Noto Sans CJK SC"/>
                <a:cs typeface="Noto Sans CJK SC"/>
              </a:rPr>
              <a:t>AnomalyAgent Architecture</a:t>
            </a:r>
            <a:endParaRPr lang="en-US" sz="2600"/>
          </a:p>
        </p:txBody>
      </p:sp>
      <p:sp>
        <p:nvSpPr>
          <p:cNvPr id="3" name="Shape 3"/>
          <p:cNvSpPr/>
          <p:nvPr/>
        </p:nvSpPr>
        <p:spPr>
          <a:xfrm>
            <a:off x="594360" y="1069848"/>
            <a:ext cx="10972800" cy="0"/>
          </a:xfrm>
          <a:prstGeom prst="line">
            <a:avLst/>
          </a:prstGeom>
          <a:noFill/>
          <a:ln w="13970">
            <a:solidFill>
              <a:srgbClr val="D8DDEA"/>
            </a:solidFill>
          </a:ln>
        </p:spPr>
      </p:sp>
      <p:sp>
        <p:nvSpPr>
          <p:cNvPr id="4" name="Shape 4"/>
          <p:cNvSpPr/>
          <p:nvPr/>
        </p:nvSpPr>
        <p:spPr>
          <a:xfrm>
            <a:off x="640080" y="1298448"/>
            <a:ext cx="1417320" cy="301752"/>
          </a:xfrm>
          <a:prstGeom prst="roundRect">
            <a:avLst>
              <a:gd name="adj" fmla="val 54540"/>
            </a:avLst>
          </a:prstGeom>
          <a:solidFill>
            <a:srgbClr val="2D7FF9"/>
          </a:solidFill>
          <a:ln w="10160">
            <a:solidFill>
              <a:srgbClr val="2D7FF9"/>
            </a:solidFill>
          </a:ln>
        </p:spPr>
      </p:sp>
      <p:sp>
        <p:nvSpPr>
          <p:cNvPr id="5" name="Shape 5"/>
          <p:cNvSpPr/>
          <p:nvPr/>
        </p:nvSpPr>
        <p:spPr>
          <a:xfrm>
            <a:off x="640080" y="1298448"/>
            <a:ext cx="1417320" cy="30175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PAPER FIG.2</a:t>
            </a:r>
            <a:endParaRPr lang="en-US" sz="950"/>
          </a:p>
        </p:txBody>
      </p:sp>
      <p:sp>
        <p:nvSpPr>
          <p:cNvPr id="6" name="Shape 6"/>
          <p:cNvSpPr/>
          <p:nvPr/>
        </p:nvSpPr>
        <p:spPr>
          <a:xfrm>
            <a:off x="1275588" y="1609344"/>
            <a:ext cx="9624060" cy="4937760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D8DDEA"/>
            </a:solidFill>
          </a:ln>
        </p:spPr>
      </p:sp>
      <p:pic>
        <p:nvPicPr>
          <p:cNvPr id="7" name="Picture 7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1463040" y="1746504"/>
            <a:ext cx="9272016" cy="4754880"/>
          </a:xfrm>
          <a:prstGeom prst="rect">
            <a:avLst/>
          </a:prstGeom>
        </p:spPr>
      </p:pic>
      <p:sp>
        <p:nvSpPr>
          <p:cNvPr id="8" name="Shape 8"/>
          <p:cNvSpPr/>
          <p:nvPr/>
        </p:nvSpPr>
        <p:spPr>
          <a:xfrm>
            <a:off x="612648" y="6547104"/>
            <a:ext cx="5303520" cy="16459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80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Paper screenshot: Fig.2 (p.2) · implementation from §4.1</a:t>
            </a:r>
            <a:endParaRPr lang="en-US" sz="800"/>
          </a:p>
        </p:txBody>
      </p:sp>
      <p:sp>
        <p:nvSpPr>
          <p:cNvPr id="9" name="Shape 9"/>
          <p:cNvSpPr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r"/>
            <a:r>
              <a:rPr lang="en-US" sz="85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lang="en-US" sz="850"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94360" y="292608"/>
            <a:ext cx="9966960" cy="50292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2600" b="1">
                <a:solidFill>
                  <a:srgbClr val="0B1020"/>
                </a:solidFill>
                <a:latin typeface="Noto Sans CJK SC"/>
                <a:ea typeface="Noto Sans CJK SC"/>
                <a:cs typeface="Noto Sans CJK SC"/>
              </a:rPr>
              <a:t>关键创新 — Trajectory Construction</a:t>
            </a:r>
            <a:endParaRPr lang="en-US" sz="2600"/>
          </a:p>
        </p:txBody>
      </p:sp>
      <p:sp>
        <p:nvSpPr>
          <p:cNvPr id="3" name="Shape 3"/>
          <p:cNvSpPr/>
          <p:nvPr/>
        </p:nvSpPr>
        <p:spPr>
          <a:xfrm>
            <a:off x="612648" y="777240"/>
            <a:ext cx="10332720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050">
                <a:solidFill>
                  <a:srgbClr val="5B6479"/>
                </a:solidFill>
                <a:latin typeface="Noto Sans CJK SC"/>
                <a:ea typeface="Noto Sans CJK SC"/>
                <a:cs typeface="Noto Sans CJK SC"/>
              </a:rPr>
              <a:t>用真实异常反向构造多轮 Agent trajectory，无需人工逐步标注。</a:t>
            </a:r>
            <a:endParaRPr lang="en-US" sz="1050"/>
          </a:p>
        </p:txBody>
      </p:sp>
      <p:sp>
        <p:nvSpPr>
          <p:cNvPr id="4" name="Shape 4"/>
          <p:cNvSpPr/>
          <p:nvPr/>
        </p:nvSpPr>
        <p:spPr>
          <a:xfrm>
            <a:off x="594360" y="1069848"/>
            <a:ext cx="10972800" cy="0"/>
          </a:xfrm>
          <a:prstGeom prst="line">
            <a:avLst/>
          </a:prstGeom>
          <a:noFill/>
          <a:ln w="13970">
            <a:solidFill>
              <a:srgbClr val="D8DDEA"/>
            </a:solidFill>
          </a:ln>
        </p:spPr>
      </p:sp>
      <p:sp>
        <p:nvSpPr>
          <p:cNvPr id="5" name="Shape 5"/>
          <p:cNvSpPr/>
          <p:nvPr/>
        </p:nvSpPr>
        <p:spPr>
          <a:xfrm>
            <a:off x="640080" y="1298448"/>
            <a:ext cx="1417320" cy="301752"/>
          </a:xfrm>
          <a:prstGeom prst="roundRect">
            <a:avLst>
              <a:gd name="adj" fmla="val 54540"/>
            </a:avLst>
          </a:prstGeom>
          <a:solidFill>
            <a:srgbClr val="29A36A"/>
          </a:solidFill>
          <a:ln w="10160">
            <a:solidFill>
              <a:srgbClr val="29A36A"/>
            </a:solidFill>
          </a:ln>
        </p:spPr>
      </p:sp>
      <p:sp>
        <p:nvSpPr>
          <p:cNvPr id="6" name="Shape 6"/>
          <p:cNvSpPr/>
          <p:nvPr/>
        </p:nvSpPr>
        <p:spPr>
          <a:xfrm>
            <a:off x="640080" y="1298448"/>
            <a:ext cx="1417320" cy="30175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PAPER FIG.3</a:t>
            </a:r>
            <a:endParaRPr lang="en-US" sz="950"/>
          </a:p>
        </p:txBody>
      </p:sp>
      <p:sp>
        <p:nvSpPr>
          <p:cNvPr id="7" name="Shape 7"/>
          <p:cNvSpPr/>
          <p:nvPr/>
        </p:nvSpPr>
        <p:spPr>
          <a:xfrm>
            <a:off x="1417320" y="1609344"/>
            <a:ext cx="9345168" cy="4462272"/>
          </a:xfrm>
          <a:prstGeom prst="roundRect">
            <a:avLst>
              <a:gd name="adj" fmla="val 2050"/>
            </a:avLst>
          </a:prstGeom>
          <a:solidFill>
            <a:srgbClr val="FFFFFF"/>
          </a:solidFill>
          <a:ln w="12700">
            <a:solidFill>
              <a:srgbClr val="D8DDEA"/>
            </a:solidFill>
          </a:ln>
        </p:spPr>
      </p:sp>
      <p:pic>
        <p:nvPicPr>
          <p:cNvPr id="8" name="Picture 8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1627632" y="1746504"/>
            <a:ext cx="8942832" cy="4370832"/>
          </a:xfrm>
          <a:prstGeom prst="rect">
            <a:avLst/>
          </a:prstGeom>
        </p:spPr>
      </p:pic>
      <p:sp>
        <p:nvSpPr>
          <p:cNvPr id="9" name="Shape 9"/>
          <p:cNvSpPr/>
          <p:nvPr/>
        </p:nvSpPr>
        <p:spPr>
          <a:xfrm>
            <a:off x="1938528" y="5916168"/>
            <a:ext cx="8321040" cy="420624"/>
          </a:xfrm>
          <a:prstGeom prst="roundRect">
            <a:avLst>
              <a:gd name="adj" fmla="val 21740"/>
            </a:avLst>
          </a:prstGeom>
          <a:solidFill>
            <a:srgbClr val="0B1020"/>
          </a:solidFill>
          <a:ln w="12700">
            <a:solidFill>
              <a:srgbClr val="FFFFF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2103120" y="5989320"/>
            <a:ext cx="7991856" cy="27432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核心：Reverse synthesis 得到 I_normal；最终 target 仍是真实 anomaly image。</a:t>
            </a:r>
            <a:endParaRPr lang="en-US" sz="1500"/>
          </a:p>
        </p:txBody>
      </p:sp>
      <p:sp>
        <p:nvSpPr>
          <p:cNvPr id="11" name="Shape 11"/>
          <p:cNvSpPr/>
          <p:nvPr/>
        </p:nvSpPr>
        <p:spPr>
          <a:xfrm>
            <a:off x="612648" y="6547104"/>
            <a:ext cx="5303520" cy="16459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80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Paper screenshot: Fig.3 (p.4) · §3.2</a:t>
            </a:r>
            <a:endParaRPr lang="en-US" sz="800"/>
          </a:p>
        </p:txBody>
      </p:sp>
      <p:sp>
        <p:nvSpPr>
          <p:cNvPr id="12" name="Shape 12"/>
          <p:cNvSpPr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r"/>
            <a:r>
              <a:rPr lang="en-US" sz="85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lang="en-US" sz="850"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94360" y="292608"/>
            <a:ext cx="9966960" cy="50292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2600" b="1">
                <a:solidFill>
                  <a:srgbClr val="0B1020"/>
                </a:solidFill>
                <a:latin typeface="Noto Sans CJK SC"/>
                <a:ea typeface="Noto Sans CJK SC"/>
                <a:cs typeface="Noto Sans CJK SC"/>
              </a:rPr>
              <a:t>Three Trajectory Types + SFT</a:t>
            </a:r>
            <a:endParaRPr lang="en-US" sz="2600"/>
          </a:p>
        </p:txBody>
      </p:sp>
      <p:sp>
        <p:nvSpPr>
          <p:cNvPr id="3" name="Shape 3"/>
          <p:cNvSpPr/>
          <p:nvPr/>
        </p:nvSpPr>
        <p:spPr>
          <a:xfrm>
            <a:off x="612648" y="777240"/>
            <a:ext cx="10332720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050">
                <a:solidFill>
                  <a:srgbClr val="5B6479"/>
                </a:solidFill>
                <a:latin typeface="Noto Sans CJK SC"/>
                <a:ea typeface="Noto Sans CJK SC"/>
                <a:cs typeface="Noto Sans CJK SC"/>
              </a:rPr>
              <a:t>SFT learns format and basic tool-use patterns; RL learns decision quality.</a:t>
            </a:r>
            <a:endParaRPr lang="en-US" sz="1050"/>
          </a:p>
        </p:txBody>
      </p:sp>
      <p:sp>
        <p:nvSpPr>
          <p:cNvPr id="4" name="Shape 4"/>
          <p:cNvSpPr/>
          <p:nvPr/>
        </p:nvSpPr>
        <p:spPr>
          <a:xfrm>
            <a:off x="594360" y="1069848"/>
            <a:ext cx="10972800" cy="0"/>
          </a:xfrm>
          <a:prstGeom prst="line">
            <a:avLst/>
          </a:prstGeom>
          <a:noFill/>
          <a:ln w="13970">
            <a:solidFill>
              <a:srgbClr val="D8DDEA"/>
            </a:solidFill>
          </a:ln>
        </p:spPr>
      </p:sp>
      <p:sp>
        <p:nvSpPr>
          <p:cNvPr id="5" name="Shape 5"/>
          <p:cNvSpPr/>
          <p:nvPr/>
        </p:nvSpPr>
        <p:spPr>
          <a:xfrm>
            <a:off x="640080" y="1298448"/>
            <a:ext cx="749808" cy="301752"/>
          </a:xfrm>
          <a:prstGeom prst="roundRect">
            <a:avLst>
              <a:gd name="adj" fmla="val 54540"/>
            </a:avLst>
          </a:prstGeom>
          <a:solidFill>
            <a:srgbClr val="29A36A"/>
          </a:solidFill>
          <a:ln w="10160">
            <a:solidFill>
              <a:srgbClr val="29A36A"/>
            </a:solidFill>
          </a:ln>
        </p:spPr>
      </p:sp>
      <p:sp>
        <p:nvSpPr>
          <p:cNvPr id="6" name="Shape 6"/>
          <p:cNvSpPr/>
          <p:nvPr/>
        </p:nvSpPr>
        <p:spPr>
          <a:xfrm>
            <a:off x="640080" y="1298448"/>
            <a:ext cx="749808" cy="30175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SFT</a:t>
            </a:r>
            <a:endParaRPr lang="en-US" sz="950"/>
          </a:p>
        </p:txBody>
      </p:sp>
      <p:sp>
        <p:nvSpPr>
          <p:cNvPr id="7" name="Shape 7"/>
          <p:cNvSpPr/>
          <p:nvPr/>
        </p:nvSpPr>
        <p:spPr>
          <a:xfrm>
            <a:off x="685800" y="1783080"/>
            <a:ext cx="3154680" cy="2148840"/>
          </a:xfrm>
          <a:prstGeom prst="roundRect">
            <a:avLst>
              <a:gd name="adj" fmla="val 4250"/>
            </a:avLst>
          </a:prstGeom>
          <a:solidFill>
            <a:srgbClr val="FAFBFD"/>
          </a:solidFill>
          <a:ln w="12700">
            <a:solidFill>
              <a:srgbClr val="D8DDEA"/>
            </a:solidFill>
          </a:ln>
        </p:spPr>
      </p:sp>
      <p:sp>
        <p:nvSpPr>
          <p:cNvPr id="8" name="Shape 8"/>
          <p:cNvSpPr/>
          <p:nvPr/>
        </p:nvSpPr>
        <p:spPr>
          <a:xfrm>
            <a:off x="886968" y="1975104"/>
            <a:ext cx="896112" cy="310896"/>
          </a:xfrm>
          <a:prstGeom prst="roundRect">
            <a:avLst>
              <a:gd name="adj" fmla="val 52940"/>
            </a:avLst>
          </a:prstGeom>
          <a:solidFill>
            <a:srgbClr val="29A36A"/>
          </a:solidFill>
          <a:ln w="10160">
            <a:solidFill>
              <a:srgbClr val="29A36A"/>
            </a:solidFill>
          </a:ln>
        </p:spPr>
      </p:sp>
      <p:sp>
        <p:nvSpPr>
          <p:cNvPr id="9" name="Shape 9"/>
          <p:cNvSpPr/>
          <p:nvPr/>
        </p:nvSpPr>
        <p:spPr>
          <a:xfrm>
            <a:off x="886968" y="1975104"/>
            <a:ext cx="896112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Single</a:t>
            </a:r>
            <a:endParaRPr lang="en-US" sz="1050"/>
          </a:p>
        </p:txBody>
      </p:sp>
      <p:sp>
        <p:nvSpPr>
          <p:cNvPr id="10" name="Shape 10"/>
          <p:cNvSpPr/>
          <p:nvPr/>
        </p:nvSpPr>
        <p:spPr>
          <a:xfrm>
            <a:off x="1965960" y="1975104"/>
            <a:ext cx="1572768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r"/>
            <a:r>
              <a:rPr lang="en-US" sz="1050">
                <a:solidFill>
                  <a:srgbClr val="5B6479"/>
                </a:solidFill>
                <a:latin typeface="Noto Sans CJK SC"/>
                <a:ea typeface="Noto Sans CJK SC"/>
                <a:cs typeface="Noto Sans CJK SC"/>
              </a:rPr>
              <a:t>一次生成即通过</a:t>
            </a:r>
            <a:endParaRPr lang="en-US" sz="1050"/>
          </a:p>
        </p:txBody>
      </p:sp>
      <p:sp>
        <p:nvSpPr>
          <p:cNvPr id="11" name="Shape 11"/>
          <p:cNvSpPr/>
          <p:nvPr/>
        </p:nvSpPr>
        <p:spPr>
          <a:xfrm>
            <a:off x="914400" y="2788920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F6F7FB"/>
          </a:solidFill>
          <a:ln w="10160">
            <a:solidFill>
              <a:srgbClr val="D8DDEA"/>
            </a:solidFill>
          </a:ln>
        </p:spPr>
      </p:sp>
      <p:sp>
        <p:nvSpPr>
          <p:cNvPr id="12" name="Shape 12"/>
          <p:cNvSpPr/>
          <p:nvPr/>
        </p:nvSpPr>
        <p:spPr>
          <a:xfrm>
            <a:off x="914400" y="2788920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PG</a:t>
            </a:r>
            <a:endParaRPr lang="en-US" sz="880"/>
          </a:p>
        </p:txBody>
      </p:sp>
      <p:sp>
        <p:nvSpPr>
          <p:cNvPr id="13" name="Shape 13"/>
          <p:cNvSpPr/>
          <p:nvPr/>
        </p:nvSpPr>
        <p:spPr>
          <a:xfrm>
            <a:off x="1371600" y="2980944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14" name="Shape 14"/>
          <p:cNvSpPr/>
          <p:nvPr/>
        </p:nvSpPr>
        <p:spPr>
          <a:xfrm>
            <a:off x="1453896" y="2788920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0160">
            <a:solidFill>
              <a:srgbClr val="D8DDEA"/>
            </a:solidFill>
          </a:ln>
        </p:spPr>
      </p:sp>
      <p:sp>
        <p:nvSpPr>
          <p:cNvPr id="15" name="Shape 15"/>
          <p:cNvSpPr/>
          <p:nvPr/>
        </p:nvSpPr>
        <p:spPr>
          <a:xfrm>
            <a:off x="1453896" y="2788920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IG</a:t>
            </a:r>
            <a:endParaRPr lang="en-US" sz="880"/>
          </a:p>
        </p:txBody>
      </p:sp>
      <p:sp>
        <p:nvSpPr>
          <p:cNvPr id="16" name="Shape 16"/>
          <p:cNvSpPr/>
          <p:nvPr/>
        </p:nvSpPr>
        <p:spPr>
          <a:xfrm>
            <a:off x="1911096" y="2980944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17" name="Shape 17"/>
          <p:cNvSpPr/>
          <p:nvPr/>
        </p:nvSpPr>
        <p:spPr>
          <a:xfrm>
            <a:off x="1993392" y="2788920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F6F7FB"/>
          </a:solidFill>
          <a:ln w="10160">
            <a:solidFill>
              <a:srgbClr val="D8DDEA"/>
            </a:solidFill>
          </a:ln>
        </p:spPr>
      </p:sp>
      <p:sp>
        <p:nvSpPr>
          <p:cNvPr id="18" name="Shape 18"/>
          <p:cNvSpPr/>
          <p:nvPr/>
        </p:nvSpPr>
        <p:spPr>
          <a:xfrm>
            <a:off x="1993392" y="2788920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QE</a:t>
            </a:r>
            <a:endParaRPr lang="en-US" sz="880"/>
          </a:p>
        </p:txBody>
      </p:sp>
      <p:sp>
        <p:nvSpPr>
          <p:cNvPr id="19" name="Shape 19"/>
          <p:cNvSpPr/>
          <p:nvPr/>
        </p:nvSpPr>
        <p:spPr>
          <a:xfrm>
            <a:off x="2450592" y="2980944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20" name="Shape 20"/>
          <p:cNvSpPr/>
          <p:nvPr/>
        </p:nvSpPr>
        <p:spPr>
          <a:xfrm>
            <a:off x="2532888" y="2788920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F6F7FB"/>
          </a:solidFill>
          <a:ln w="10160">
            <a:solidFill>
              <a:srgbClr val="D8DDEA"/>
            </a:solidFill>
          </a:ln>
        </p:spPr>
      </p:sp>
      <p:sp>
        <p:nvSpPr>
          <p:cNvPr id="21" name="Shape 21"/>
          <p:cNvSpPr/>
          <p:nvPr/>
        </p:nvSpPr>
        <p:spPr>
          <a:xfrm>
            <a:off x="2532888" y="2788920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MG</a:t>
            </a:r>
            <a:endParaRPr lang="en-US" sz="880"/>
          </a:p>
        </p:txBody>
      </p:sp>
      <p:sp>
        <p:nvSpPr>
          <p:cNvPr id="22" name="Shape 22"/>
          <p:cNvSpPr/>
          <p:nvPr/>
        </p:nvSpPr>
        <p:spPr>
          <a:xfrm>
            <a:off x="4059936" y="1783080"/>
            <a:ext cx="3154680" cy="2148840"/>
          </a:xfrm>
          <a:prstGeom prst="roundRect">
            <a:avLst>
              <a:gd name="adj" fmla="val 4250"/>
            </a:avLst>
          </a:prstGeom>
          <a:solidFill>
            <a:srgbClr val="FAFBFD"/>
          </a:solidFill>
          <a:ln w="12700">
            <a:solidFill>
              <a:srgbClr val="D8DDEA"/>
            </a:solidFill>
          </a:ln>
        </p:spPr>
      </p:sp>
      <p:sp>
        <p:nvSpPr>
          <p:cNvPr id="23" name="Shape 23"/>
          <p:cNvSpPr/>
          <p:nvPr/>
        </p:nvSpPr>
        <p:spPr>
          <a:xfrm>
            <a:off x="4261104" y="1975104"/>
            <a:ext cx="896112" cy="310896"/>
          </a:xfrm>
          <a:prstGeom prst="roundRect">
            <a:avLst>
              <a:gd name="adj" fmla="val 52940"/>
            </a:avLst>
          </a:prstGeom>
          <a:solidFill>
            <a:srgbClr val="2D7FF9"/>
          </a:solidFill>
          <a:ln w="10160">
            <a:solidFill>
              <a:srgbClr val="2D7FF9"/>
            </a:solidFill>
          </a:ln>
        </p:spPr>
      </p:sp>
      <p:sp>
        <p:nvSpPr>
          <p:cNvPr id="24" name="Shape 24"/>
          <p:cNvSpPr/>
          <p:nvPr/>
        </p:nvSpPr>
        <p:spPr>
          <a:xfrm>
            <a:off x="4261104" y="1975104"/>
            <a:ext cx="896112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Dual</a:t>
            </a:r>
            <a:endParaRPr lang="en-US" sz="1050"/>
          </a:p>
        </p:txBody>
      </p:sp>
      <p:sp>
        <p:nvSpPr>
          <p:cNvPr id="25" name="Shape 25"/>
          <p:cNvSpPr/>
          <p:nvPr/>
        </p:nvSpPr>
        <p:spPr>
          <a:xfrm>
            <a:off x="5340096" y="1975104"/>
            <a:ext cx="1572768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r"/>
            <a:r>
              <a:rPr lang="en-US" sz="1050">
                <a:solidFill>
                  <a:srgbClr val="5B6479"/>
                </a:solidFill>
                <a:latin typeface="Noto Sans CJK SC"/>
                <a:ea typeface="Noto Sans CJK SC"/>
                <a:cs typeface="Noto Sans CJK SC"/>
              </a:rPr>
              <a:t>一次失败后修正</a:t>
            </a:r>
            <a:endParaRPr lang="en-US" sz="1050"/>
          </a:p>
        </p:txBody>
      </p:sp>
      <p:sp>
        <p:nvSpPr>
          <p:cNvPr id="26" name="Shape 26"/>
          <p:cNvSpPr/>
          <p:nvPr/>
        </p:nvSpPr>
        <p:spPr>
          <a:xfrm>
            <a:off x="4288536" y="2788920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F6F7FB"/>
          </a:solidFill>
          <a:ln w="10160">
            <a:solidFill>
              <a:srgbClr val="D8DDEA"/>
            </a:solidFill>
          </a:ln>
        </p:spPr>
      </p:sp>
      <p:sp>
        <p:nvSpPr>
          <p:cNvPr id="27" name="Shape 27"/>
          <p:cNvSpPr/>
          <p:nvPr/>
        </p:nvSpPr>
        <p:spPr>
          <a:xfrm>
            <a:off x="4288536" y="2788920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PG</a:t>
            </a:r>
            <a:endParaRPr lang="en-US" sz="880"/>
          </a:p>
        </p:txBody>
      </p:sp>
      <p:sp>
        <p:nvSpPr>
          <p:cNvPr id="28" name="Shape 28"/>
          <p:cNvSpPr/>
          <p:nvPr/>
        </p:nvSpPr>
        <p:spPr>
          <a:xfrm>
            <a:off x="4745736" y="2980944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29" name="Shape 29"/>
          <p:cNvSpPr/>
          <p:nvPr/>
        </p:nvSpPr>
        <p:spPr>
          <a:xfrm>
            <a:off x="4828032" y="2788920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0160">
            <a:solidFill>
              <a:srgbClr val="D8DDEA"/>
            </a:solidFill>
          </a:ln>
        </p:spPr>
      </p:sp>
      <p:sp>
        <p:nvSpPr>
          <p:cNvPr id="30" name="Shape 30"/>
          <p:cNvSpPr/>
          <p:nvPr/>
        </p:nvSpPr>
        <p:spPr>
          <a:xfrm>
            <a:off x="4828032" y="2788920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IG</a:t>
            </a:r>
            <a:endParaRPr lang="en-US" sz="880"/>
          </a:p>
        </p:txBody>
      </p:sp>
      <p:sp>
        <p:nvSpPr>
          <p:cNvPr id="31" name="Shape 31"/>
          <p:cNvSpPr/>
          <p:nvPr/>
        </p:nvSpPr>
        <p:spPr>
          <a:xfrm>
            <a:off x="5285232" y="2980944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32" name="Shape 32"/>
          <p:cNvSpPr/>
          <p:nvPr/>
        </p:nvSpPr>
        <p:spPr>
          <a:xfrm>
            <a:off x="5367528" y="2788920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F6F7FB"/>
          </a:solidFill>
          <a:ln w="10160">
            <a:solidFill>
              <a:srgbClr val="D8DDEA"/>
            </a:solidFill>
          </a:ln>
        </p:spPr>
      </p:sp>
      <p:sp>
        <p:nvSpPr>
          <p:cNvPr id="33" name="Shape 33"/>
          <p:cNvSpPr/>
          <p:nvPr/>
        </p:nvSpPr>
        <p:spPr>
          <a:xfrm>
            <a:off x="5367528" y="2788920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QE</a:t>
            </a:r>
            <a:endParaRPr lang="en-US" sz="880"/>
          </a:p>
        </p:txBody>
      </p:sp>
      <p:sp>
        <p:nvSpPr>
          <p:cNvPr id="34" name="Shape 34"/>
          <p:cNvSpPr/>
          <p:nvPr/>
        </p:nvSpPr>
        <p:spPr>
          <a:xfrm>
            <a:off x="5824728" y="2980944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35" name="Shape 35"/>
          <p:cNvSpPr/>
          <p:nvPr/>
        </p:nvSpPr>
        <p:spPr>
          <a:xfrm>
            <a:off x="5907024" y="2788920"/>
            <a:ext cx="502920" cy="384048"/>
          </a:xfrm>
          <a:prstGeom prst="roundRect">
            <a:avLst>
              <a:gd name="adj" fmla="val 23810"/>
            </a:avLst>
          </a:prstGeom>
          <a:solidFill>
            <a:srgbClr val="E8F6EF"/>
          </a:solidFill>
          <a:ln w="10160">
            <a:solidFill>
              <a:srgbClr val="29A36A"/>
            </a:solidFill>
          </a:ln>
        </p:spPr>
      </p:sp>
      <p:sp>
        <p:nvSpPr>
          <p:cNvPr id="36" name="Shape 36"/>
          <p:cNvSpPr/>
          <p:nvPr/>
        </p:nvSpPr>
        <p:spPr>
          <a:xfrm>
            <a:off x="5907024" y="2788920"/>
            <a:ext cx="502920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29A36A"/>
                </a:solidFill>
                <a:latin typeface="Noto Sans CJK SC"/>
                <a:ea typeface="Noto Sans CJK SC"/>
                <a:cs typeface="Noto Sans CJK SC"/>
              </a:rPr>
              <a:t>KR?</a:t>
            </a:r>
            <a:endParaRPr lang="en-US" sz="880"/>
          </a:p>
        </p:txBody>
      </p:sp>
      <p:sp>
        <p:nvSpPr>
          <p:cNvPr id="37" name="Shape 37"/>
          <p:cNvSpPr/>
          <p:nvPr/>
        </p:nvSpPr>
        <p:spPr>
          <a:xfrm rot="5400000">
            <a:off x="6146597" y="3213202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38" name="Shape 38"/>
          <p:cNvSpPr/>
          <p:nvPr/>
        </p:nvSpPr>
        <p:spPr>
          <a:xfrm>
            <a:off x="5399532" y="3245206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0160">
            <a:solidFill>
              <a:srgbClr val="D8DDEA"/>
            </a:solidFill>
          </a:ln>
        </p:spPr>
      </p:sp>
      <p:sp>
        <p:nvSpPr>
          <p:cNvPr id="39" name="Shape 39"/>
          <p:cNvSpPr/>
          <p:nvPr/>
        </p:nvSpPr>
        <p:spPr>
          <a:xfrm>
            <a:off x="5399532" y="3245206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IG</a:t>
            </a:r>
            <a:endParaRPr lang="en-US" sz="880"/>
          </a:p>
        </p:txBody>
      </p:sp>
      <p:sp>
        <p:nvSpPr>
          <p:cNvPr id="40" name="Shape 40"/>
          <p:cNvSpPr/>
          <p:nvPr/>
        </p:nvSpPr>
        <p:spPr>
          <a:xfrm rot="10800000">
            <a:off x="5852160" y="3438144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41" name="Shape 41"/>
          <p:cNvSpPr/>
          <p:nvPr/>
        </p:nvSpPr>
        <p:spPr>
          <a:xfrm>
            <a:off x="5939028" y="3245206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F6F7FB"/>
          </a:solidFill>
          <a:ln w="10160">
            <a:solidFill>
              <a:srgbClr val="D8DDEA"/>
            </a:solidFill>
          </a:ln>
        </p:spPr>
      </p:sp>
      <p:sp>
        <p:nvSpPr>
          <p:cNvPr id="42" name="Shape 42"/>
          <p:cNvSpPr/>
          <p:nvPr/>
        </p:nvSpPr>
        <p:spPr>
          <a:xfrm>
            <a:off x="5928055" y="3245206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QE</a:t>
            </a:r>
            <a:endParaRPr lang="en-US" sz="880"/>
          </a:p>
        </p:txBody>
      </p:sp>
      <p:sp>
        <p:nvSpPr>
          <p:cNvPr id="43" name="Shape 43"/>
          <p:cNvSpPr/>
          <p:nvPr/>
        </p:nvSpPr>
        <p:spPr>
          <a:xfrm>
            <a:off x="7566660" y="3011119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44" name="Shape 44"/>
          <p:cNvSpPr/>
          <p:nvPr/>
        </p:nvSpPr>
        <p:spPr>
          <a:xfrm>
            <a:off x="7648956" y="2819095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F6F7FB"/>
          </a:solidFill>
          <a:ln w="10160">
            <a:solidFill>
              <a:srgbClr val="D8DDEA"/>
            </a:solidFill>
          </a:ln>
        </p:spPr>
      </p:sp>
      <p:sp>
        <p:nvSpPr>
          <p:cNvPr id="45" name="Shape 45"/>
          <p:cNvSpPr/>
          <p:nvPr/>
        </p:nvSpPr>
        <p:spPr>
          <a:xfrm>
            <a:off x="7648956" y="2819095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MG</a:t>
            </a:r>
            <a:endParaRPr lang="en-US" sz="880"/>
          </a:p>
        </p:txBody>
      </p:sp>
      <p:sp>
        <p:nvSpPr>
          <p:cNvPr id="46" name="Shape 46"/>
          <p:cNvSpPr/>
          <p:nvPr/>
        </p:nvSpPr>
        <p:spPr>
          <a:xfrm>
            <a:off x="7493508" y="1813255"/>
            <a:ext cx="3154680" cy="2148840"/>
          </a:xfrm>
          <a:prstGeom prst="roundRect">
            <a:avLst>
              <a:gd name="adj" fmla="val 4250"/>
            </a:avLst>
          </a:prstGeom>
          <a:solidFill>
            <a:srgbClr val="FAFBFD"/>
          </a:solidFill>
          <a:ln w="12700">
            <a:solidFill>
              <a:srgbClr val="D8DDEA"/>
            </a:solidFill>
          </a:ln>
        </p:spPr>
      </p:sp>
      <p:sp>
        <p:nvSpPr>
          <p:cNvPr id="47" name="Shape 47"/>
          <p:cNvSpPr/>
          <p:nvPr/>
        </p:nvSpPr>
        <p:spPr>
          <a:xfrm>
            <a:off x="7694676" y="2005279"/>
            <a:ext cx="896112" cy="310896"/>
          </a:xfrm>
          <a:prstGeom prst="roundRect">
            <a:avLst>
              <a:gd name="adj" fmla="val 52940"/>
            </a:avLst>
          </a:prstGeom>
          <a:solidFill>
            <a:srgbClr val="6C5CE7"/>
          </a:solidFill>
          <a:ln w="10160">
            <a:solidFill>
              <a:srgbClr val="6C5CE7"/>
            </a:solidFill>
          </a:ln>
        </p:spPr>
      </p:sp>
      <p:sp>
        <p:nvSpPr>
          <p:cNvPr id="48" name="Shape 48"/>
          <p:cNvSpPr/>
          <p:nvPr/>
        </p:nvSpPr>
        <p:spPr>
          <a:xfrm>
            <a:off x="7694676" y="2005279"/>
            <a:ext cx="896112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Triple</a:t>
            </a:r>
            <a:endParaRPr lang="en-US" sz="1050"/>
          </a:p>
        </p:txBody>
      </p:sp>
      <p:sp>
        <p:nvSpPr>
          <p:cNvPr id="49" name="Shape 49"/>
          <p:cNvSpPr/>
          <p:nvPr/>
        </p:nvSpPr>
        <p:spPr>
          <a:xfrm>
            <a:off x="8773668" y="2005279"/>
            <a:ext cx="1572768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r"/>
            <a:r>
              <a:rPr lang="en-US" sz="1050">
                <a:solidFill>
                  <a:srgbClr val="5B6479"/>
                </a:solidFill>
                <a:latin typeface="Noto Sans CJK SC"/>
                <a:ea typeface="Noto Sans CJK SC"/>
                <a:cs typeface="Noto Sans CJK SC"/>
              </a:rPr>
              <a:t>多轮困难样本</a:t>
            </a:r>
            <a:endParaRPr lang="en-US" sz="1050"/>
          </a:p>
        </p:txBody>
      </p:sp>
      <p:sp>
        <p:nvSpPr>
          <p:cNvPr id="50" name="Shape 50"/>
          <p:cNvSpPr/>
          <p:nvPr/>
        </p:nvSpPr>
        <p:spPr>
          <a:xfrm>
            <a:off x="7722108" y="2819095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F6F7FB"/>
          </a:solidFill>
          <a:ln w="10160">
            <a:solidFill>
              <a:srgbClr val="D8DDEA"/>
            </a:solidFill>
          </a:ln>
        </p:spPr>
      </p:sp>
      <p:sp>
        <p:nvSpPr>
          <p:cNvPr id="51" name="Shape 51"/>
          <p:cNvSpPr/>
          <p:nvPr/>
        </p:nvSpPr>
        <p:spPr>
          <a:xfrm>
            <a:off x="7722108" y="2819095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PG</a:t>
            </a:r>
            <a:endParaRPr lang="en-US" sz="880"/>
          </a:p>
        </p:txBody>
      </p:sp>
      <p:sp>
        <p:nvSpPr>
          <p:cNvPr id="52" name="Shape 52"/>
          <p:cNvSpPr/>
          <p:nvPr/>
        </p:nvSpPr>
        <p:spPr>
          <a:xfrm>
            <a:off x="8179308" y="3011119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53" name="Shape 53"/>
          <p:cNvSpPr/>
          <p:nvPr/>
        </p:nvSpPr>
        <p:spPr>
          <a:xfrm>
            <a:off x="8261604" y="2819095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0160">
            <a:solidFill>
              <a:srgbClr val="D8DDEA"/>
            </a:solidFill>
          </a:ln>
        </p:spPr>
      </p:sp>
      <p:sp>
        <p:nvSpPr>
          <p:cNvPr id="54" name="Shape 54"/>
          <p:cNvSpPr/>
          <p:nvPr/>
        </p:nvSpPr>
        <p:spPr>
          <a:xfrm>
            <a:off x="8261604" y="2819095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IG</a:t>
            </a:r>
            <a:endParaRPr lang="en-US" sz="880"/>
          </a:p>
        </p:txBody>
      </p:sp>
      <p:sp>
        <p:nvSpPr>
          <p:cNvPr id="55" name="Shape 55"/>
          <p:cNvSpPr/>
          <p:nvPr/>
        </p:nvSpPr>
        <p:spPr>
          <a:xfrm>
            <a:off x="8718804" y="3011119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56" name="Shape 56"/>
          <p:cNvSpPr/>
          <p:nvPr/>
        </p:nvSpPr>
        <p:spPr>
          <a:xfrm>
            <a:off x="8801100" y="2819095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F6F7FB"/>
          </a:solidFill>
          <a:ln w="10160">
            <a:solidFill>
              <a:srgbClr val="D8DDEA"/>
            </a:solidFill>
          </a:ln>
        </p:spPr>
      </p:sp>
      <p:sp>
        <p:nvSpPr>
          <p:cNvPr id="57" name="Shape 57"/>
          <p:cNvSpPr/>
          <p:nvPr/>
        </p:nvSpPr>
        <p:spPr>
          <a:xfrm>
            <a:off x="8801100" y="2819095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QE</a:t>
            </a:r>
            <a:endParaRPr lang="en-US" sz="880"/>
          </a:p>
        </p:txBody>
      </p:sp>
      <p:sp>
        <p:nvSpPr>
          <p:cNvPr id="58" name="Shape 58"/>
          <p:cNvSpPr/>
          <p:nvPr/>
        </p:nvSpPr>
        <p:spPr>
          <a:xfrm>
            <a:off x="9258300" y="3011119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59" name="Shape 59"/>
          <p:cNvSpPr/>
          <p:nvPr/>
        </p:nvSpPr>
        <p:spPr>
          <a:xfrm>
            <a:off x="9340596" y="2819095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E8F6EF"/>
          </a:solidFill>
          <a:ln w="10160">
            <a:solidFill>
              <a:srgbClr val="29A36A"/>
            </a:solidFill>
          </a:ln>
        </p:spPr>
      </p:sp>
      <p:sp>
        <p:nvSpPr>
          <p:cNvPr id="60" name="Shape 60"/>
          <p:cNvSpPr/>
          <p:nvPr/>
        </p:nvSpPr>
        <p:spPr>
          <a:xfrm>
            <a:off x="9340596" y="2819095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29A36A"/>
                </a:solidFill>
                <a:latin typeface="Noto Sans CJK SC"/>
                <a:ea typeface="Noto Sans CJK SC"/>
                <a:cs typeface="Noto Sans CJK SC"/>
              </a:rPr>
              <a:t>KR</a:t>
            </a:r>
            <a:endParaRPr lang="en-US" sz="880"/>
          </a:p>
        </p:txBody>
      </p:sp>
      <p:sp>
        <p:nvSpPr>
          <p:cNvPr id="61" name="Shape 61"/>
          <p:cNvSpPr/>
          <p:nvPr/>
        </p:nvSpPr>
        <p:spPr>
          <a:xfrm>
            <a:off x="9797796" y="3011119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62" name="Shape 62"/>
          <p:cNvSpPr/>
          <p:nvPr/>
        </p:nvSpPr>
        <p:spPr>
          <a:xfrm>
            <a:off x="9880092" y="2819095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0160">
            <a:solidFill>
              <a:srgbClr val="D8DDEA"/>
            </a:solidFill>
          </a:ln>
        </p:spPr>
      </p:sp>
      <p:sp>
        <p:nvSpPr>
          <p:cNvPr id="63" name="Shape 63"/>
          <p:cNvSpPr/>
          <p:nvPr/>
        </p:nvSpPr>
        <p:spPr>
          <a:xfrm>
            <a:off x="9880092" y="2819095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IG</a:t>
            </a:r>
            <a:endParaRPr lang="en-US" sz="880"/>
          </a:p>
        </p:txBody>
      </p:sp>
      <p:sp>
        <p:nvSpPr>
          <p:cNvPr id="64" name="Shape 64"/>
          <p:cNvSpPr/>
          <p:nvPr/>
        </p:nvSpPr>
        <p:spPr>
          <a:xfrm rot="5400000">
            <a:off x="10086746" y="3259836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65" name="Shape 65"/>
          <p:cNvSpPr/>
          <p:nvPr/>
        </p:nvSpPr>
        <p:spPr>
          <a:xfrm>
            <a:off x="8280806" y="3291840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F6F7FB"/>
          </a:solidFill>
          <a:ln w="10160">
            <a:solidFill>
              <a:srgbClr val="D8DDEA"/>
            </a:solidFill>
          </a:ln>
        </p:spPr>
      </p:sp>
      <p:sp>
        <p:nvSpPr>
          <p:cNvPr id="66" name="Shape 66"/>
          <p:cNvSpPr/>
          <p:nvPr/>
        </p:nvSpPr>
        <p:spPr>
          <a:xfrm>
            <a:off x="8280806" y="3291840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QE</a:t>
            </a:r>
            <a:endParaRPr lang="en-US" sz="880"/>
          </a:p>
        </p:txBody>
      </p:sp>
      <p:sp>
        <p:nvSpPr>
          <p:cNvPr id="67" name="Shape 67"/>
          <p:cNvSpPr/>
          <p:nvPr/>
        </p:nvSpPr>
        <p:spPr>
          <a:xfrm>
            <a:off x="8738006" y="3483864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68" name="Shape 68"/>
          <p:cNvSpPr/>
          <p:nvPr/>
        </p:nvSpPr>
        <p:spPr>
          <a:xfrm>
            <a:off x="8820302" y="3291840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0160">
            <a:solidFill>
              <a:srgbClr val="D8DDEA"/>
            </a:solidFill>
          </a:ln>
        </p:spPr>
      </p:sp>
      <p:sp>
        <p:nvSpPr>
          <p:cNvPr id="69" name="Shape 69"/>
          <p:cNvSpPr/>
          <p:nvPr/>
        </p:nvSpPr>
        <p:spPr>
          <a:xfrm>
            <a:off x="8820302" y="3291840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IG</a:t>
            </a:r>
            <a:endParaRPr lang="en-US" sz="880"/>
          </a:p>
        </p:txBody>
      </p:sp>
      <p:sp>
        <p:nvSpPr>
          <p:cNvPr id="70" name="Shape 70"/>
          <p:cNvSpPr/>
          <p:nvPr/>
        </p:nvSpPr>
        <p:spPr>
          <a:xfrm>
            <a:off x="9277502" y="3483864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71" name="Shape 71"/>
          <p:cNvSpPr/>
          <p:nvPr/>
        </p:nvSpPr>
        <p:spPr>
          <a:xfrm>
            <a:off x="9359798" y="3291840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F6F7FB"/>
          </a:solidFill>
          <a:ln w="10160">
            <a:solidFill>
              <a:srgbClr val="D8DDEA"/>
            </a:solidFill>
          </a:ln>
        </p:spPr>
      </p:sp>
      <p:sp>
        <p:nvSpPr>
          <p:cNvPr id="72" name="Shape 72"/>
          <p:cNvSpPr/>
          <p:nvPr/>
        </p:nvSpPr>
        <p:spPr>
          <a:xfrm>
            <a:off x="9359798" y="3291840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QE</a:t>
            </a:r>
            <a:endParaRPr lang="en-US" sz="880"/>
          </a:p>
        </p:txBody>
      </p:sp>
      <p:sp>
        <p:nvSpPr>
          <p:cNvPr id="73" name="Shape 73"/>
          <p:cNvSpPr/>
          <p:nvPr/>
        </p:nvSpPr>
        <p:spPr>
          <a:xfrm>
            <a:off x="9816998" y="3483864"/>
            <a:ext cx="64008" cy="0"/>
          </a:xfrm>
          <a:prstGeom prst="line">
            <a:avLst/>
          </a:prstGeom>
          <a:noFill/>
          <a:ln w="13970">
            <a:solidFill>
              <a:srgbClr val="5B6479"/>
            </a:solidFill>
            <a:tailEnd type="triangle" w="med" len="med"/>
          </a:ln>
        </p:spPr>
      </p:sp>
      <p:sp>
        <p:nvSpPr>
          <p:cNvPr id="74" name="Shape 74"/>
          <p:cNvSpPr/>
          <p:nvPr/>
        </p:nvSpPr>
        <p:spPr>
          <a:xfrm>
            <a:off x="9899294" y="3291840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F6F7FB"/>
          </a:solidFill>
          <a:ln w="10160">
            <a:solidFill>
              <a:srgbClr val="D8DDEA"/>
            </a:solidFill>
          </a:ln>
        </p:spPr>
      </p:sp>
      <p:sp>
        <p:nvSpPr>
          <p:cNvPr id="75" name="Shape 75"/>
          <p:cNvSpPr/>
          <p:nvPr/>
        </p:nvSpPr>
        <p:spPr>
          <a:xfrm>
            <a:off x="9899294" y="3291840"/>
            <a:ext cx="43891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880" b="1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MG</a:t>
            </a:r>
            <a:endParaRPr lang="en-US" sz="880"/>
          </a:p>
        </p:txBody>
      </p:sp>
      <p:sp>
        <p:nvSpPr>
          <p:cNvPr id="76" name="Shape 76"/>
          <p:cNvSpPr/>
          <p:nvPr/>
        </p:nvSpPr>
        <p:spPr>
          <a:xfrm>
            <a:off x="612648" y="6547104"/>
            <a:ext cx="5303520" cy="16459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80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Trajectory taxonomy &amp; Eq.(1) · §3.2</a:t>
            </a:r>
            <a:endParaRPr lang="en-US" sz="800"/>
          </a:p>
        </p:txBody>
      </p:sp>
      <p:sp>
        <p:nvSpPr>
          <p:cNvPr id="77" name="Shape 77"/>
          <p:cNvSpPr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r"/>
            <a:r>
              <a:rPr lang="en-US" sz="85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lang="en-US" sz="850"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94360" y="292608"/>
            <a:ext cx="9966960" cy="50292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2600" b="1">
                <a:solidFill>
                  <a:srgbClr val="0B1020"/>
                </a:solidFill>
                <a:latin typeface="Noto Sans CJK SC"/>
                <a:ea typeface="Noto Sans CJK SC"/>
                <a:cs typeface="Noto Sans CJK SC"/>
              </a:rPr>
              <a:t>Reward Design —— </a:t>
            </a:r>
            <a:r>
              <a:rPr lang="en-US" sz="2600" b="1">
                <a:solidFill>
                  <a:srgbClr val="0B1020"/>
                </a:solidFill>
                <a:latin typeface="Noto Sans CJK SC"/>
                <a:ea typeface="Noto Sans CJK SC"/>
                <a:cs typeface="Noto Sans CJK SC"/>
              </a:rPr>
              <a:t>从结果、改进和行为三个维度优化 </a:t>
            </a:r>
            <a:r>
              <a:rPr lang="en-US" sz="2600" b="1">
                <a:solidFill>
                  <a:srgbClr val="0B1020"/>
                </a:solidFill>
                <a:latin typeface="Noto Sans CJK SC"/>
                <a:ea typeface="Noto Sans CJK SC"/>
                <a:cs typeface="Noto Sans CJK SC"/>
              </a:rPr>
              <a:t>Agent</a:t>
            </a:r>
            <a:endParaRPr lang="en-US" sz="2600"/>
          </a:p>
        </p:txBody>
      </p:sp>
      <p:sp>
        <p:nvSpPr>
          <p:cNvPr id="3" name="Shape 3"/>
          <p:cNvSpPr/>
          <p:nvPr/>
        </p:nvSpPr>
        <p:spPr>
          <a:xfrm>
            <a:off x="612648" y="777240"/>
            <a:ext cx="10332720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050">
                <a:solidFill>
                  <a:srgbClr val="5B6479"/>
                </a:solidFill>
                <a:latin typeface="Noto Sans CJK SC"/>
                <a:ea typeface="Noto Sans CJK SC"/>
                <a:cs typeface="Noto Sans CJK SC"/>
              </a:rPr>
              <a:t>核心目标：不仅奖励“生成得好”，还奖励“每一步真的变好”和“工具调用合理”。</a:t>
            </a:r>
            <a:endParaRPr lang="en-US" sz="1050"/>
          </a:p>
        </p:txBody>
      </p:sp>
      <p:sp>
        <p:nvSpPr>
          <p:cNvPr id="4" name="Shape 4"/>
          <p:cNvSpPr/>
          <p:nvPr/>
        </p:nvSpPr>
        <p:spPr>
          <a:xfrm>
            <a:off x="594360" y="1069848"/>
            <a:ext cx="10972800" cy="0"/>
          </a:xfrm>
          <a:prstGeom prst="line">
            <a:avLst/>
          </a:prstGeom>
          <a:noFill/>
          <a:ln w="13970">
            <a:solidFill>
              <a:srgbClr val="D8DDEA"/>
            </a:solidFill>
          </a:ln>
        </p:spPr>
      </p:sp>
      <p:sp>
        <p:nvSpPr>
          <p:cNvPr id="5" name="Shape 5"/>
          <p:cNvSpPr/>
          <p:nvPr/>
        </p:nvSpPr>
        <p:spPr>
          <a:xfrm>
            <a:off x="640080" y="1298448"/>
            <a:ext cx="1024128" cy="301752"/>
          </a:xfrm>
          <a:prstGeom prst="roundRect">
            <a:avLst>
              <a:gd name="adj" fmla="val 54540"/>
            </a:avLst>
          </a:prstGeom>
          <a:solidFill>
            <a:srgbClr val="F2B84B"/>
          </a:solidFill>
          <a:ln w="10160">
            <a:solidFill>
              <a:srgbClr val="F2B84B"/>
            </a:solidFill>
          </a:ln>
        </p:spPr>
      </p:sp>
      <p:sp>
        <p:nvSpPr>
          <p:cNvPr id="6" name="Shape 6"/>
          <p:cNvSpPr/>
          <p:nvPr/>
        </p:nvSpPr>
        <p:spPr>
          <a:xfrm>
            <a:off x="640080" y="1298448"/>
            <a:ext cx="1024128" cy="30175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REWARD</a:t>
            </a:r>
            <a:endParaRPr lang="en-US" sz="950"/>
          </a:p>
        </p:txBody>
      </p:sp>
      <p:sp>
        <p:nvSpPr>
          <p:cNvPr id="7" name="Shape 7"/>
          <p:cNvSpPr/>
          <p:nvPr/>
        </p:nvSpPr>
        <p:spPr>
          <a:xfrm>
            <a:off x="694944" y="1847088"/>
            <a:ext cx="3035808" cy="3520440"/>
          </a:xfrm>
          <a:prstGeom prst="roundRect">
            <a:avLst>
              <a:gd name="adj" fmla="val 3010"/>
            </a:avLst>
          </a:prstGeom>
          <a:solidFill>
            <a:srgbClr val="EAF2FF"/>
          </a:solidFill>
          <a:ln w="12700">
            <a:solidFill>
              <a:srgbClr val="2D7FF9"/>
            </a:solidFill>
          </a:ln>
        </p:spPr>
      </p:sp>
      <p:sp>
        <p:nvSpPr>
          <p:cNvPr id="8" name="Shape 8"/>
          <p:cNvSpPr/>
          <p:nvPr/>
        </p:nvSpPr>
        <p:spPr>
          <a:xfrm>
            <a:off x="896112" y="2066544"/>
            <a:ext cx="438912" cy="310896"/>
          </a:xfrm>
          <a:prstGeom prst="roundRect">
            <a:avLst>
              <a:gd name="adj" fmla="val 52940"/>
            </a:avLst>
          </a:prstGeom>
          <a:solidFill>
            <a:srgbClr val="2D7FF9"/>
          </a:solidFill>
          <a:ln w="10160">
            <a:solidFill>
              <a:srgbClr val="2D7FF9"/>
            </a:solidFill>
          </a:ln>
        </p:spPr>
      </p:sp>
      <p:sp>
        <p:nvSpPr>
          <p:cNvPr id="9" name="Shape 9"/>
          <p:cNvSpPr/>
          <p:nvPr/>
        </p:nvSpPr>
        <p:spPr>
          <a:xfrm>
            <a:off x="896112" y="2066544"/>
            <a:ext cx="438912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en-US" sz="950"/>
          </a:p>
        </p:txBody>
      </p:sp>
      <p:sp>
        <p:nvSpPr>
          <p:cNvPr id="10" name="Shape 10"/>
          <p:cNvSpPr/>
          <p:nvPr/>
        </p:nvSpPr>
        <p:spPr>
          <a:xfrm>
            <a:off x="1472184" y="2011680"/>
            <a:ext cx="194767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700" b="1">
                <a:solidFill>
                  <a:srgbClr val="2D7FF9"/>
                </a:solidFill>
                <a:latin typeface="Noto Sans CJK SC"/>
                <a:ea typeface="Noto Sans CJK SC"/>
                <a:cs typeface="Noto Sans CJK SC"/>
              </a:rPr>
              <a:t>Task Reward</a:t>
            </a:r>
            <a:endParaRPr lang="en-US" sz="1700"/>
          </a:p>
        </p:txBody>
      </p:sp>
      <p:sp>
        <p:nvSpPr>
          <p:cNvPr id="11" name="Shape 11"/>
          <p:cNvSpPr/>
          <p:nvPr/>
        </p:nvSpPr>
        <p:spPr>
          <a:xfrm>
            <a:off x="914400" y="2633472"/>
            <a:ext cx="2578608" cy="29260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050" b="1">
                <a:solidFill>
                  <a:srgbClr val="5B6479"/>
                </a:solidFill>
                <a:latin typeface="Noto Sans CJK SC"/>
                <a:ea typeface="Noto Sans CJK SC"/>
                <a:cs typeface="Noto Sans CJK SC"/>
              </a:rPr>
              <a:t>Is it authentic?</a:t>
            </a:r>
            <a:endParaRPr lang="en-US" sz="1050"/>
          </a:p>
        </p:txBody>
      </p:sp>
      <p:sp>
        <p:nvSpPr>
          <p:cNvPr id="12" name="Shape 12"/>
          <p:cNvSpPr/>
          <p:nvPr/>
        </p:nvSpPr>
        <p:spPr>
          <a:xfrm>
            <a:off x="905256" y="3090672"/>
            <a:ext cx="2615184" cy="749808"/>
          </a:xfrm>
          <a:prstGeom prst="roundRect">
            <a:avLst>
              <a:gd name="adj" fmla="val 12200"/>
            </a:avLst>
          </a:prstGeom>
          <a:solidFill>
            <a:srgbClr val="FFFFFF"/>
          </a:solidFill>
          <a:ln w="12700">
            <a:solidFill>
              <a:srgbClr val="E1E5EF"/>
            </a:solidFill>
          </a:ln>
        </p:spPr>
      </p:sp>
      <p:sp>
        <p:nvSpPr>
          <p:cNvPr id="13" name="Shape 13"/>
          <p:cNvSpPr/>
          <p:nvPr/>
        </p:nvSpPr>
        <p:spPr>
          <a:xfrm>
            <a:off x="978408" y="4142232"/>
            <a:ext cx="2468880" cy="65836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210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最终图是否真实 / 缺陷位置是否合理</a:t>
            </a:r>
            <a:endParaRPr lang="en-US" sz="1210"/>
          </a:p>
        </p:txBody>
      </p:sp>
      <p:sp>
        <p:nvSpPr>
          <p:cNvPr id="14" name="Shape 14"/>
          <p:cNvSpPr/>
          <p:nvPr/>
        </p:nvSpPr>
        <p:spPr>
          <a:xfrm>
            <a:off x="4133088" y="1847088"/>
            <a:ext cx="3035808" cy="3520440"/>
          </a:xfrm>
          <a:prstGeom prst="roundRect">
            <a:avLst>
              <a:gd name="adj" fmla="val 3010"/>
            </a:avLst>
          </a:prstGeom>
          <a:solidFill>
            <a:srgbClr val="EEEAFB"/>
          </a:solidFill>
          <a:ln w="12700">
            <a:solidFill>
              <a:srgbClr val="6C5CE7"/>
            </a:solidFill>
          </a:ln>
        </p:spPr>
      </p:sp>
      <p:sp>
        <p:nvSpPr>
          <p:cNvPr id="15" name="Shape 15"/>
          <p:cNvSpPr/>
          <p:nvPr/>
        </p:nvSpPr>
        <p:spPr>
          <a:xfrm>
            <a:off x="4334256" y="2066544"/>
            <a:ext cx="438912" cy="310896"/>
          </a:xfrm>
          <a:prstGeom prst="roundRect">
            <a:avLst>
              <a:gd name="adj" fmla="val 52940"/>
            </a:avLst>
          </a:prstGeom>
          <a:solidFill>
            <a:srgbClr val="6C5CE7"/>
          </a:solidFill>
          <a:ln w="10160">
            <a:solidFill>
              <a:srgbClr val="6C5CE7"/>
            </a:solidFill>
          </a:ln>
        </p:spPr>
      </p:sp>
      <p:sp>
        <p:nvSpPr>
          <p:cNvPr id="16" name="Shape 16"/>
          <p:cNvSpPr/>
          <p:nvPr/>
        </p:nvSpPr>
        <p:spPr>
          <a:xfrm>
            <a:off x="4334256" y="2066544"/>
            <a:ext cx="438912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en-US" sz="950"/>
          </a:p>
        </p:txBody>
      </p:sp>
      <p:sp>
        <p:nvSpPr>
          <p:cNvPr id="17" name="Shape 17"/>
          <p:cNvSpPr/>
          <p:nvPr/>
        </p:nvSpPr>
        <p:spPr>
          <a:xfrm>
            <a:off x="4910328" y="2011680"/>
            <a:ext cx="194767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700" b="1">
                <a:solidFill>
                  <a:srgbClr val="6C5CE7"/>
                </a:solidFill>
                <a:latin typeface="Noto Sans CJK SC"/>
                <a:ea typeface="Noto Sans CJK SC"/>
                <a:cs typeface="Noto Sans CJK SC"/>
              </a:rPr>
              <a:t>Reflection Reward</a:t>
            </a:r>
            <a:endParaRPr lang="en-US" sz="1700"/>
          </a:p>
        </p:txBody>
      </p:sp>
      <p:sp>
        <p:nvSpPr>
          <p:cNvPr id="18" name="Shape 18"/>
          <p:cNvSpPr/>
          <p:nvPr/>
        </p:nvSpPr>
        <p:spPr>
          <a:xfrm>
            <a:off x="4352544" y="2633472"/>
            <a:ext cx="2578608" cy="29260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050" b="1">
                <a:solidFill>
                  <a:srgbClr val="5B6479"/>
                </a:solidFill>
                <a:latin typeface="Noto Sans CJK SC"/>
                <a:ea typeface="Noto Sans CJK SC"/>
                <a:cs typeface="Noto Sans CJK SC"/>
              </a:rPr>
              <a:t>Can it improve?</a:t>
            </a:r>
            <a:endParaRPr lang="en-US" sz="1050"/>
          </a:p>
        </p:txBody>
      </p:sp>
      <p:sp>
        <p:nvSpPr>
          <p:cNvPr id="19" name="Shape 19"/>
          <p:cNvSpPr/>
          <p:nvPr/>
        </p:nvSpPr>
        <p:spPr>
          <a:xfrm>
            <a:off x="4343400" y="3090672"/>
            <a:ext cx="2615184" cy="749808"/>
          </a:xfrm>
          <a:prstGeom prst="roundRect">
            <a:avLst>
              <a:gd name="adj" fmla="val 12200"/>
            </a:avLst>
          </a:prstGeom>
          <a:solidFill>
            <a:srgbClr val="FFFFFF"/>
          </a:solidFill>
          <a:ln w="12700">
            <a:solidFill>
              <a:srgbClr val="E1E5EF"/>
            </a:solidFill>
          </a:ln>
        </p:spPr>
      </p:sp>
      <p:sp>
        <p:nvSpPr>
          <p:cNvPr id="20" name="Shape 20"/>
          <p:cNvSpPr/>
          <p:nvPr/>
        </p:nvSpPr>
        <p:spPr>
          <a:xfrm>
            <a:off x="4416552" y="4142232"/>
            <a:ext cx="2468880" cy="65836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210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每次 refinement 是否真的让质量变好</a:t>
            </a:r>
            <a:endParaRPr lang="en-US" sz="1210"/>
          </a:p>
        </p:txBody>
      </p:sp>
      <p:sp>
        <p:nvSpPr>
          <p:cNvPr id="21" name="Shape 21"/>
          <p:cNvSpPr/>
          <p:nvPr/>
        </p:nvSpPr>
        <p:spPr>
          <a:xfrm>
            <a:off x="7571232" y="1847088"/>
            <a:ext cx="3035808" cy="3520440"/>
          </a:xfrm>
          <a:prstGeom prst="roundRect">
            <a:avLst>
              <a:gd name="adj" fmla="val 3010"/>
            </a:avLst>
          </a:prstGeom>
          <a:solidFill>
            <a:srgbClr val="E8F6EF"/>
          </a:solidFill>
          <a:ln w="12700">
            <a:solidFill>
              <a:srgbClr val="29A36A"/>
            </a:solidFill>
          </a:ln>
        </p:spPr>
      </p:sp>
      <p:sp>
        <p:nvSpPr>
          <p:cNvPr id="22" name="Shape 22"/>
          <p:cNvSpPr/>
          <p:nvPr/>
        </p:nvSpPr>
        <p:spPr>
          <a:xfrm>
            <a:off x="7772400" y="2066544"/>
            <a:ext cx="438912" cy="310896"/>
          </a:xfrm>
          <a:prstGeom prst="roundRect">
            <a:avLst>
              <a:gd name="adj" fmla="val 52940"/>
            </a:avLst>
          </a:prstGeom>
          <a:solidFill>
            <a:srgbClr val="29A36A"/>
          </a:solidFill>
          <a:ln w="10160">
            <a:solidFill>
              <a:srgbClr val="29A36A"/>
            </a:solidFill>
          </a:ln>
        </p:spPr>
      </p:sp>
      <p:sp>
        <p:nvSpPr>
          <p:cNvPr id="23" name="Shape 23"/>
          <p:cNvSpPr/>
          <p:nvPr/>
        </p:nvSpPr>
        <p:spPr>
          <a:xfrm>
            <a:off x="7772400" y="2066544"/>
            <a:ext cx="438912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en-US" sz="950"/>
          </a:p>
        </p:txBody>
      </p:sp>
      <p:sp>
        <p:nvSpPr>
          <p:cNvPr id="24" name="Shape 24"/>
          <p:cNvSpPr/>
          <p:nvPr/>
        </p:nvSpPr>
        <p:spPr>
          <a:xfrm>
            <a:off x="8348472" y="2011680"/>
            <a:ext cx="1947672" cy="38404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700" b="1">
                <a:solidFill>
                  <a:srgbClr val="29A36A"/>
                </a:solidFill>
                <a:latin typeface="Noto Sans CJK SC"/>
                <a:ea typeface="Noto Sans CJK SC"/>
                <a:cs typeface="Noto Sans CJK SC"/>
              </a:rPr>
              <a:t>Behavior Reward</a:t>
            </a:r>
            <a:endParaRPr lang="en-US" sz="1700"/>
          </a:p>
        </p:txBody>
      </p:sp>
      <p:sp>
        <p:nvSpPr>
          <p:cNvPr id="25" name="Shape 25"/>
          <p:cNvSpPr/>
          <p:nvPr/>
        </p:nvSpPr>
        <p:spPr>
          <a:xfrm>
            <a:off x="7790688" y="2633472"/>
            <a:ext cx="2578608" cy="29260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050" b="1">
                <a:solidFill>
                  <a:srgbClr val="5B6479"/>
                </a:solidFill>
                <a:latin typeface="Noto Sans CJK SC"/>
                <a:ea typeface="Noto Sans CJK SC"/>
                <a:cs typeface="Noto Sans CJK SC"/>
              </a:rPr>
              <a:t>Is it well executed?</a:t>
            </a:r>
            <a:endParaRPr lang="en-US" sz="1050"/>
          </a:p>
        </p:txBody>
      </p:sp>
      <p:sp>
        <p:nvSpPr>
          <p:cNvPr id="26" name="Shape 26"/>
          <p:cNvSpPr/>
          <p:nvPr/>
        </p:nvSpPr>
        <p:spPr>
          <a:xfrm>
            <a:off x="7781544" y="3090672"/>
            <a:ext cx="2615184" cy="749808"/>
          </a:xfrm>
          <a:prstGeom prst="roundRect">
            <a:avLst>
              <a:gd name="adj" fmla="val 12200"/>
            </a:avLst>
          </a:prstGeom>
          <a:solidFill>
            <a:srgbClr val="FFFFFF"/>
          </a:solidFill>
          <a:ln w="12700">
            <a:solidFill>
              <a:srgbClr val="E1E5EF"/>
            </a:solidFill>
          </a:ln>
        </p:spPr>
      </p:sp>
      <p:sp>
        <p:nvSpPr>
          <p:cNvPr id="27" name="Shape 27"/>
          <p:cNvSpPr/>
          <p:nvPr/>
        </p:nvSpPr>
        <p:spPr>
          <a:xfrm>
            <a:off x="7854696" y="3913632"/>
            <a:ext cx="2468880" cy="139080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210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工具顺序、格式、效率是否符合预期</a:t>
            </a:r>
            <a:endParaRPr lang="en-US" sz="1210"/>
          </a:p>
          <a:p>
            <a:pPr algn="ctr"/>
            <a:r>
              <a:rPr lang="en-US" sz="1210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是否正确执行 </a:t>
            </a:r>
            <a:r>
              <a:rPr lang="en-US" sz="1210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Agent workflow</a:t>
            </a:r>
            <a:endParaRPr lang="en-US" sz="1210"/>
          </a:p>
          <a:p>
            <a:pPr algn="ctr"/>
            <a:r>
              <a:rPr lang="en-US" sz="1210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✓ tool transition validity</a:t>
            </a:r>
            <a:endParaRPr lang="en-US" sz="1210"/>
          </a:p>
          <a:p>
            <a:pPr algn="ctr"/>
            <a:r>
              <a:rPr lang="en-US" sz="1210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✓ format correctness</a:t>
            </a:r>
            <a:endParaRPr lang="en-US" sz="1210"/>
          </a:p>
          <a:p>
            <a:pPr algn="ctr"/>
            <a:r>
              <a:rPr lang="en-US" sz="1210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✓ efficient trajectory length</a:t>
            </a:r>
            <a:endParaRPr lang="en-US" sz="1210"/>
          </a:p>
          <a:p>
            <a:pPr algn="ctr"/>
            <a:r>
              <a:rPr lang="en-US" sz="1210">
                <a:solidFill>
                  <a:srgbClr val="15203B"/>
                </a:solidFill>
                <a:latin typeface="Noto Sans CJK SC"/>
                <a:ea typeface="Noto Sans CJK SC"/>
                <a:cs typeface="Noto Sans CJK SC"/>
              </a:rPr>
              <a:t>✓ reasonable KR usage</a:t>
            </a:r>
            <a:endParaRPr lang="en-US" sz="1210"/>
          </a:p>
        </p:txBody>
      </p:sp>
      <p:sp>
        <p:nvSpPr>
          <p:cNvPr id="28" name="Shape 28"/>
          <p:cNvSpPr/>
          <p:nvPr/>
        </p:nvSpPr>
        <p:spPr>
          <a:xfrm>
            <a:off x="4526280" y="4864608"/>
            <a:ext cx="402336" cy="329184"/>
          </a:xfrm>
          <a:prstGeom prst="rect">
            <a:avLst/>
          </a:prstGeom>
          <a:noFill/>
        </p:spPr>
      </p:sp>
      <p:sp>
        <p:nvSpPr>
          <p:cNvPr id="29" name="Shape 29"/>
          <p:cNvSpPr/>
          <p:nvPr/>
        </p:nvSpPr>
        <p:spPr>
          <a:xfrm>
            <a:off x="3191256" y="5769864"/>
            <a:ext cx="5815584" cy="502920"/>
          </a:xfrm>
          <a:prstGeom prst="roundRect">
            <a:avLst>
              <a:gd name="adj" fmla="val 18180"/>
            </a:avLst>
          </a:prstGeom>
          <a:solidFill>
            <a:srgbClr val="0B1020"/>
          </a:solidFill>
          <a:ln w="12700">
            <a:solidFill>
              <a:srgbClr val="FFFFFF"/>
            </a:solidFill>
          </a:ln>
        </p:spPr>
      </p:sp>
      <p:sp>
        <p:nvSpPr>
          <p:cNvPr id="30" name="Shape 30"/>
          <p:cNvSpPr/>
          <p:nvPr/>
        </p:nvSpPr>
        <p:spPr>
          <a:xfrm>
            <a:off x="3355848" y="5843016"/>
            <a:ext cx="5486400" cy="35661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 = αR_task + βR_ref + γR_beh</a:t>
            </a:r>
            <a:endParaRPr lang="en-US" sz="1500"/>
          </a:p>
        </p:txBody>
      </p:sp>
      <p:sp>
        <p:nvSpPr>
          <p:cNvPr id="31" name="Shape 31"/>
          <p:cNvSpPr/>
          <p:nvPr/>
        </p:nvSpPr>
        <p:spPr>
          <a:xfrm>
            <a:off x="612648" y="6547104"/>
            <a:ext cx="5303520" cy="16459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80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Reward design · Eq.(3–6), §3.3</a:t>
            </a:r>
            <a:endParaRPr lang="en-US" sz="800"/>
          </a:p>
        </p:txBody>
      </p:sp>
      <p:sp>
        <p:nvSpPr>
          <p:cNvPr id="32" name="Shape 32"/>
          <p:cNvSpPr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r"/>
            <a:r>
              <a:rPr lang="en-US" sz="85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lang="en-US" sz="850"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1457554" y="3251606"/>
            <a:ext cx="1496873" cy="391363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4499762" y="3135478"/>
            <a:ext cx="2283257" cy="660197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7854696" y="3199486"/>
            <a:ext cx="2422246" cy="532181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94360" y="292608"/>
            <a:ext cx="9966960" cy="50292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2600" b="1">
                <a:solidFill>
                  <a:srgbClr val="0B1020"/>
                </a:solidFill>
                <a:latin typeface="Noto Sans CJK SC"/>
                <a:ea typeface="Noto Sans CJK SC"/>
                <a:cs typeface="Noto Sans CJK SC"/>
              </a:rPr>
              <a:t>Main Results</a:t>
            </a:r>
            <a:endParaRPr lang="en-US" sz="2600"/>
          </a:p>
        </p:txBody>
      </p:sp>
      <p:sp>
        <p:nvSpPr>
          <p:cNvPr id="3" name="Shape 3"/>
          <p:cNvSpPr/>
          <p:nvPr/>
        </p:nvSpPr>
        <p:spPr>
          <a:xfrm>
            <a:off x="594360" y="1069848"/>
            <a:ext cx="10972800" cy="0"/>
          </a:xfrm>
          <a:prstGeom prst="line">
            <a:avLst/>
          </a:prstGeom>
          <a:noFill/>
          <a:ln w="13970">
            <a:solidFill>
              <a:srgbClr val="D8DDEA"/>
            </a:solidFill>
          </a:ln>
        </p:spPr>
      </p:sp>
      <p:sp>
        <p:nvSpPr>
          <p:cNvPr id="4" name="Shape 4"/>
          <p:cNvSpPr/>
          <p:nvPr/>
        </p:nvSpPr>
        <p:spPr>
          <a:xfrm>
            <a:off x="640080" y="1298448"/>
            <a:ext cx="1097280" cy="301752"/>
          </a:xfrm>
          <a:prstGeom prst="roundRect">
            <a:avLst>
              <a:gd name="adj" fmla="val 54540"/>
            </a:avLst>
          </a:prstGeom>
          <a:solidFill>
            <a:srgbClr val="2D7FF9"/>
          </a:solidFill>
          <a:ln w="10160">
            <a:solidFill>
              <a:srgbClr val="2D7FF9"/>
            </a:solidFill>
          </a:ln>
        </p:spPr>
      </p:sp>
      <p:sp>
        <p:nvSpPr>
          <p:cNvPr id="5" name="Shape 5"/>
          <p:cNvSpPr/>
          <p:nvPr/>
        </p:nvSpPr>
        <p:spPr>
          <a:xfrm>
            <a:off x="640080" y="1298448"/>
            <a:ext cx="1097280" cy="30175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RESULTS</a:t>
            </a:r>
            <a:endParaRPr lang="en-US" sz="950"/>
          </a:p>
        </p:txBody>
      </p:sp>
      <p:sp>
        <p:nvSpPr>
          <p:cNvPr id="6" name="Shape 6"/>
          <p:cNvSpPr/>
          <p:nvPr/>
        </p:nvSpPr>
        <p:spPr>
          <a:xfrm>
            <a:off x="612648" y="6547104"/>
            <a:ext cx="5303520" cy="16459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80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Main results · abstract / experiment tables</a:t>
            </a:r>
            <a:endParaRPr lang="en-US" sz="800"/>
          </a:p>
        </p:txBody>
      </p:sp>
      <p:sp>
        <p:nvSpPr>
          <p:cNvPr id="7" name="Shape 7"/>
          <p:cNvSpPr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r"/>
            <a:r>
              <a:rPr lang="en-US" sz="85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lang="en-US" sz="85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640080" y="1828800"/>
            <a:ext cx="4949647" cy="4429354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6241694" y="1828800"/>
            <a:ext cx="4077310" cy="3143707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94360" y="292608"/>
            <a:ext cx="9966960" cy="50292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2600" b="1">
                <a:solidFill>
                  <a:srgbClr val="0B1020"/>
                </a:solidFill>
                <a:latin typeface="Noto Sans CJK SC"/>
                <a:ea typeface="Noto Sans CJK SC"/>
                <a:cs typeface="Noto Sans CJK SC"/>
              </a:rPr>
              <a:t>Visualization + Ablation</a:t>
            </a:r>
            <a:endParaRPr lang="en-US" sz="2600"/>
          </a:p>
        </p:txBody>
      </p:sp>
      <p:sp>
        <p:nvSpPr>
          <p:cNvPr id="3" name="Shape 3"/>
          <p:cNvSpPr/>
          <p:nvPr/>
        </p:nvSpPr>
        <p:spPr>
          <a:xfrm>
            <a:off x="594360" y="1069848"/>
            <a:ext cx="10972800" cy="0"/>
          </a:xfrm>
          <a:prstGeom prst="line">
            <a:avLst/>
          </a:prstGeom>
          <a:noFill/>
          <a:ln w="13970">
            <a:solidFill>
              <a:srgbClr val="D8DDEA"/>
            </a:solidFill>
          </a:ln>
        </p:spPr>
      </p:sp>
      <p:sp>
        <p:nvSpPr>
          <p:cNvPr id="4" name="Shape 4"/>
          <p:cNvSpPr/>
          <p:nvPr/>
        </p:nvSpPr>
        <p:spPr>
          <a:xfrm>
            <a:off x="640080" y="1298448"/>
            <a:ext cx="1554480" cy="301752"/>
          </a:xfrm>
          <a:prstGeom prst="roundRect">
            <a:avLst>
              <a:gd name="adj" fmla="val 54540"/>
            </a:avLst>
          </a:prstGeom>
          <a:solidFill>
            <a:srgbClr val="6C5CE7"/>
          </a:solidFill>
          <a:ln w="10160">
            <a:solidFill>
              <a:srgbClr val="6C5CE7"/>
            </a:solidFill>
          </a:ln>
        </p:spPr>
      </p:sp>
      <p:sp>
        <p:nvSpPr>
          <p:cNvPr id="5" name="Shape 5"/>
          <p:cNvSpPr/>
          <p:nvPr/>
        </p:nvSpPr>
        <p:spPr>
          <a:xfrm>
            <a:off x="640080" y="1298448"/>
            <a:ext cx="1554480" cy="30175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PAPER RESULTS</a:t>
            </a:r>
            <a:endParaRPr lang="en-US" sz="950"/>
          </a:p>
        </p:txBody>
      </p:sp>
      <p:sp>
        <p:nvSpPr>
          <p:cNvPr id="6" name="Shape 6"/>
          <p:cNvSpPr/>
          <p:nvPr/>
        </p:nvSpPr>
        <p:spPr>
          <a:xfrm>
            <a:off x="658368" y="1664208"/>
            <a:ext cx="5888736" cy="4425696"/>
          </a:xfrm>
          <a:prstGeom prst="roundRect">
            <a:avLst>
              <a:gd name="adj" fmla="val 2840"/>
            </a:avLst>
          </a:prstGeom>
          <a:solidFill>
            <a:srgbClr val="F6F7FB"/>
          </a:solidFill>
          <a:ln w="12700">
            <a:solidFill>
              <a:srgbClr val="D8DDEA"/>
            </a:solidFill>
          </a:ln>
        </p:spPr>
      </p:sp>
      <p:sp>
        <p:nvSpPr>
          <p:cNvPr id="7" name="Shape 7"/>
          <p:cNvSpPr/>
          <p:nvPr/>
        </p:nvSpPr>
        <p:spPr>
          <a:xfrm>
            <a:off x="896112" y="5786323"/>
            <a:ext cx="5349240" cy="21945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20">
                <a:solidFill>
                  <a:srgbClr val="5B6479"/>
                </a:solidFill>
                <a:latin typeface="Noto Sans CJK SC"/>
                <a:ea typeface="Noto Sans CJK SC"/>
                <a:cs typeface="Noto Sans CJK SC"/>
              </a:rPr>
              <a:t>Fig.5 · qualitative synthesis comparison</a:t>
            </a:r>
            <a:endParaRPr lang="en-US" sz="920"/>
          </a:p>
        </p:txBody>
      </p:sp>
      <p:sp>
        <p:nvSpPr>
          <p:cNvPr id="8" name="Shape 8"/>
          <p:cNvSpPr/>
          <p:nvPr/>
        </p:nvSpPr>
        <p:spPr>
          <a:xfrm>
            <a:off x="6748272" y="1664208"/>
            <a:ext cx="4709160" cy="4425696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D8DDEA"/>
            </a:solidFill>
          </a:ln>
        </p:spPr>
      </p:sp>
      <p:sp>
        <p:nvSpPr>
          <p:cNvPr id="9" name="Shape 9"/>
          <p:cNvSpPr/>
          <p:nvPr/>
        </p:nvSpPr>
        <p:spPr>
          <a:xfrm>
            <a:off x="612648" y="6547104"/>
            <a:ext cx="5303520" cy="16459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80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Paper screenshots: Fig.5 + Table 4/5 (p.8)</a:t>
            </a:r>
            <a:endParaRPr lang="en-US" sz="800"/>
          </a:p>
        </p:txBody>
      </p:sp>
      <p:sp>
        <p:nvSpPr>
          <p:cNvPr id="10" name="Shape 10"/>
          <p:cNvSpPr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r"/>
            <a:r>
              <a:rPr lang="en-US" sz="85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lang="en-US" sz="85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6888175" y="1792224"/>
            <a:ext cx="4427525" cy="421355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716890" y="1955902"/>
            <a:ext cx="5707685" cy="3704234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94360" y="292608"/>
            <a:ext cx="9966960" cy="50292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2600" b="1">
                <a:solidFill>
                  <a:srgbClr val="0B1020"/>
                </a:solidFill>
                <a:latin typeface="Noto Sans CJK SC"/>
                <a:ea typeface="Noto Sans CJK SC"/>
                <a:cs typeface="Noto Sans CJK SC"/>
              </a:rPr>
              <a:t>Efficiency / Cost</a:t>
            </a:r>
            <a:endParaRPr lang="en-US" sz="2600"/>
          </a:p>
        </p:txBody>
      </p:sp>
      <p:sp>
        <p:nvSpPr>
          <p:cNvPr id="3" name="Shape 3"/>
          <p:cNvSpPr/>
          <p:nvPr/>
        </p:nvSpPr>
        <p:spPr>
          <a:xfrm>
            <a:off x="612648" y="777240"/>
            <a:ext cx="10332720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050">
                <a:solidFill>
                  <a:srgbClr val="5B6479"/>
                </a:solidFill>
                <a:latin typeface="Noto Sans CJK SC"/>
                <a:ea typeface="Noto Sans CJK SC"/>
                <a:cs typeface="Noto Sans CJK SC"/>
              </a:rPr>
              <a:t>直接使用 Supplement Fig.6：比较 time / cost / quality trade-off。</a:t>
            </a:r>
            <a:endParaRPr lang="en-US" sz="1050"/>
          </a:p>
        </p:txBody>
      </p:sp>
      <p:sp>
        <p:nvSpPr>
          <p:cNvPr id="4" name="Shape 4"/>
          <p:cNvSpPr/>
          <p:nvPr/>
        </p:nvSpPr>
        <p:spPr>
          <a:xfrm>
            <a:off x="594360" y="1069848"/>
            <a:ext cx="10972800" cy="0"/>
          </a:xfrm>
          <a:prstGeom prst="line">
            <a:avLst/>
          </a:prstGeom>
          <a:noFill/>
          <a:ln w="13970">
            <a:solidFill>
              <a:srgbClr val="D8DDEA"/>
            </a:solidFill>
          </a:ln>
        </p:spPr>
      </p:sp>
      <p:sp>
        <p:nvSpPr>
          <p:cNvPr id="5" name="Shape 5"/>
          <p:cNvSpPr/>
          <p:nvPr/>
        </p:nvSpPr>
        <p:spPr>
          <a:xfrm>
            <a:off x="640080" y="1298448"/>
            <a:ext cx="1417320" cy="301752"/>
          </a:xfrm>
          <a:prstGeom prst="roundRect">
            <a:avLst>
              <a:gd name="adj" fmla="val 54540"/>
            </a:avLst>
          </a:prstGeom>
          <a:solidFill>
            <a:srgbClr val="29A36A"/>
          </a:solidFill>
          <a:ln w="10160">
            <a:solidFill>
              <a:srgbClr val="29A36A"/>
            </a:solidFill>
          </a:ln>
        </p:spPr>
      </p:sp>
      <p:sp>
        <p:nvSpPr>
          <p:cNvPr id="6" name="Shape 6"/>
          <p:cNvSpPr/>
          <p:nvPr/>
        </p:nvSpPr>
        <p:spPr>
          <a:xfrm>
            <a:off x="640080" y="1298448"/>
            <a:ext cx="1417320" cy="30175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PAPER FIG.6</a:t>
            </a:r>
            <a:endParaRPr lang="en-US" sz="950"/>
          </a:p>
        </p:txBody>
      </p:sp>
      <p:sp>
        <p:nvSpPr>
          <p:cNvPr id="7" name="Shape 7"/>
          <p:cNvSpPr/>
          <p:nvPr/>
        </p:nvSpPr>
        <p:spPr>
          <a:xfrm>
            <a:off x="1182319" y="1609344"/>
            <a:ext cx="9817913" cy="4907585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D8DDEA"/>
            </a:solidFill>
          </a:ln>
        </p:spPr>
      </p:sp>
      <p:sp>
        <p:nvSpPr>
          <p:cNvPr id="8" name="Shape 8"/>
          <p:cNvSpPr/>
          <p:nvPr/>
        </p:nvSpPr>
        <p:spPr>
          <a:xfrm>
            <a:off x="612648" y="6547104"/>
            <a:ext cx="5303520" cy="16459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80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Paper screenshot: Supplement Fig.6 / Table 6 (p.11)</a:t>
            </a:r>
            <a:endParaRPr lang="en-US" sz="800"/>
          </a:p>
        </p:txBody>
      </p:sp>
      <p:sp>
        <p:nvSpPr>
          <p:cNvPr id="9" name="Shape 9"/>
          <p:cNvSpPr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r"/>
            <a:r>
              <a:rPr lang="en-US" sz="850">
                <a:solidFill>
                  <a:srgbClr val="8A92A8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lang="en-US" sz="85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2804465" y="1688897"/>
            <a:ext cx="6583680" cy="4748479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384048"/>
            <a:ext cx="9601200" cy="50292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Critical Discussion &amp; My Takeaways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76656" y="850392"/>
            <a:ext cx="9966960" cy="329184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300">
                <a:solidFill>
                  <a:srgbClr val="AAB4D3"/>
                </a:solidFill>
                <a:latin typeface="Noto Sans CJK SC"/>
                <a:ea typeface="Noto Sans CJK SC"/>
                <a:cs typeface="Noto Sans CJK SC"/>
              </a:rPr>
              <a:t>这篇工作最值得延伸的，不只是更强生成器，而是更可验证、更经济、更自治的闭环。</a:t>
            </a:r>
            <a:endParaRPr lang="en-US" sz="1300"/>
          </a:p>
        </p:txBody>
      </p:sp>
      <p:sp>
        <p:nvSpPr>
          <p:cNvPr id="4" name="Shape 4"/>
          <p:cNvSpPr/>
          <p:nvPr/>
        </p:nvSpPr>
        <p:spPr>
          <a:xfrm>
            <a:off x="749808" y="1490472"/>
            <a:ext cx="493776" cy="310896"/>
          </a:xfrm>
          <a:prstGeom prst="roundRect">
            <a:avLst>
              <a:gd name="adj" fmla="val 52940"/>
            </a:avLst>
          </a:prstGeom>
          <a:solidFill>
            <a:srgbClr val="2D7FF9"/>
          </a:solidFill>
          <a:ln w="10160">
            <a:solidFill>
              <a:srgbClr val="2D7FF9"/>
            </a:solidFill>
          </a:ln>
        </p:spPr>
      </p:sp>
      <p:sp>
        <p:nvSpPr>
          <p:cNvPr id="5" name="Shape 5"/>
          <p:cNvSpPr/>
          <p:nvPr/>
        </p:nvSpPr>
        <p:spPr>
          <a:xfrm>
            <a:off x="749808" y="1490472"/>
            <a:ext cx="493776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en-US" sz="950"/>
          </a:p>
        </p:txBody>
      </p:sp>
      <p:sp>
        <p:nvSpPr>
          <p:cNvPr id="6" name="Shape 6"/>
          <p:cNvSpPr/>
          <p:nvPr/>
        </p:nvSpPr>
        <p:spPr>
          <a:xfrm>
            <a:off x="1463040" y="1472184"/>
            <a:ext cx="2999232" cy="329184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Zero-shot definition</a:t>
            </a:r>
            <a:endParaRPr lang="en-US" sz="1600"/>
          </a:p>
        </p:txBody>
      </p:sp>
      <p:sp>
        <p:nvSpPr>
          <p:cNvPr id="7" name="Shape 7"/>
          <p:cNvSpPr/>
          <p:nvPr/>
        </p:nvSpPr>
        <p:spPr>
          <a:xfrm>
            <a:off x="4462272" y="1463040"/>
            <a:ext cx="6812280" cy="47548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220">
                <a:solidFill>
                  <a:srgbClr val="C6CDE2"/>
                </a:solidFill>
                <a:latin typeface="Noto Sans CJK SC"/>
                <a:ea typeface="Noto Sans CJK SC"/>
                <a:cs typeface="Noto Sans CJK SC"/>
              </a:rPr>
              <a:t>训练 trajectory 使用 VisA 真实异常，更准确地说是 cross-dataset / unseen-anomaly generalization。</a:t>
            </a:r>
            <a:endParaRPr lang="en-US" sz="1220"/>
          </a:p>
        </p:txBody>
      </p:sp>
      <p:sp>
        <p:nvSpPr>
          <p:cNvPr id="8" name="Shape 8"/>
          <p:cNvSpPr/>
          <p:nvPr/>
        </p:nvSpPr>
        <p:spPr>
          <a:xfrm>
            <a:off x="1463040" y="2121408"/>
            <a:ext cx="9811512" cy="0"/>
          </a:xfrm>
          <a:prstGeom prst="line">
            <a:avLst/>
          </a:prstGeom>
          <a:noFill/>
          <a:ln w="10160">
            <a:solidFill>
              <a:srgbClr val="303A5C"/>
            </a:solidFill>
          </a:ln>
        </p:spPr>
      </p:sp>
      <p:sp>
        <p:nvSpPr>
          <p:cNvPr id="9" name="Shape 9"/>
          <p:cNvSpPr/>
          <p:nvPr/>
        </p:nvSpPr>
        <p:spPr>
          <a:xfrm>
            <a:off x="749808" y="2432304"/>
            <a:ext cx="493776" cy="310896"/>
          </a:xfrm>
          <a:prstGeom prst="roundRect">
            <a:avLst>
              <a:gd name="adj" fmla="val 52940"/>
            </a:avLst>
          </a:prstGeom>
          <a:solidFill>
            <a:srgbClr val="E85D75"/>
          </a:solidFill>
          <a:ln w="10160">
            <a:solidFill>
              <a:srgbClr val="E85D75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49808" y="2432304"/>
            <a:ext cx="493776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en-US" sz="950"/>
          </a:p>
        </p:txBody>
      </p:sp>
      <p:sp>
        <p:nvSpPr>
          <p:cNvPr id="11" name="Shape 11"/>
          <p:cNvSpPr/>
          <p:nvPr/>
        </p:nvSpPr>
        <p:spPr>
          <a:xfrm>
            <a:off x="1463040" y="2414016"/>
            <a:ext cx="2999232" cy="329184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Proprietary tool dependency</a:t>
            </a:r>
            <a:endParaRPr lang="en-US" sz="1600"/>
          </a:p>
        </p:txBody>
      </p:sp>
      <p:sp>
        <p:nvSpPr>
          <p:cNvPr id="12" name="Shape 12"/>
          <p:cNvSpPr/>
          <p:nvPr/>
        </p:nvSpPr>
        <p:spPr>
          <a:xfrm>
            <a:off x="4462272" y="2404872"/>
            <a:ext cx="6812280" cy="47548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220">
                <a:solidFill>
                  <a:srgbClr val="C6CDE2"/>
                </a:solidFill>
                <a:latin typeface="Noto Sans CJK SC"/>
                <a:ea typeface="Noto Sans CJK SC"/>
                <a:cs typeface="Noto Sans CJK SC"/>
              </a:rPr>
              <a:t>Gemini + Google Search 带来可复现性、隐私与部署成本问题。</a:t>
            </a:r>
            <a:endParaRPr lang="en-US" sz="1220"/>
          </a:p>
        </p:txBody>
      </p:sp>
      <p:sp>
        <p:nvSpPr>
          <p:cNvPr id="13" name="Shape 13"/>
          <p:cNvSpPr/>
          <p:nvPr/>
        </p:nvSpPr>
        <p:spPr>
          <a:xfrm>
            <a:off x="1463040" y="3063240"/>
            <a:ext cx="9811512" cy="0"/>
          </a:xfrm>
          <a:prstGeom prst="line">
            <a:avLst/>
          </a:prstGeom>
          <a:noFill/>
          <a:ln w="10160">
            <a:solidFill>
              <a:srgbClr val="303A5C"/>
            </a:solidFill>
          </a:ln>
        </p:spPr>
      </p:sp>
      <p:sp>
        <p:nvSpPr>
          <p:cNvPr id="14" name="Shape 14"/>
          <p:cNvSpPr/>
          <p:nvPr/>
        </p:nvSpPr>
        <p:spPr>
          <a:xfrm>
            <a:off x="749808" y="3374136"/>
            <a:ext cx="493776" cy="310896"/>
          </a:xfrm>
          <a:prstGeom prst="roundRect">
            <a:avLst>
              <a:gd name="adj" fmla="val 52940"/>
            </a:avLst>
          </a:prstGeom>
          <a:solidFill>
            <a:srgbClr val="F2B84B"/>
          </a:solidFill>
          <a:ln w="10160">
            <a:solidFill>
              <a:srgbClr val="F2B84B"/>
            </a:solidFill>
          </a:ln>
        </p:spPr>
      </p:sp>
      <p:sp>
        <p:nvSpPr>
          <p:cNvPr id="15" name="Shape 15"/>
          <p:cNvSpPr/>
          <p:nvPr/>
        </p:nvSpPr>
        <p:spPr>
          <a:xfrm>
            <a:off x="749808" y="3374136"/>
            <a:ext cx="493776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en-US" sz="950"/>
          </a:p>
        </p:txBody>
      </p:sp>
      <p:sp>
        <p:nvSpPr>
          <p:cNvPr id="16" name="Shape 16"/>
          <p:cNvSpPr/>
          <p:nvPr/>
        </p:nvSpPr>
        <p:spPr>
          <a:xfrm>
            <a:off x="1463040" y="3355848"/>
            <a:ext cx="2999232" cy="329184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“Verifiable” reward?</a:t>
            </a:r>
            <a:endParaRPr lang="en-US" sz="1600"/>
          </a:p>
        </p:txBody>
      </p:sp>
      <p:sp>
        <p:nvSpPr>
          <p:cNvPr id="17" name="Shape 17"/>
          <p:cNvSpPr/>
          <p:nvPr/>
        </p:nvSpPr>
        <p:spPr>
          <a:xfrm>
            <a:off x="4462272" y="3346704"/>
            <a:ext cx="6812280" cy="47548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220">
                <a:solidFill>
                  <a:srgbClr val="C6CDE2"/>
                </a:solidFill>
                <a:latin typeface="Noto Sans CJK SC"/>
                <a:ea typeface="Noto Sans CJK SC"/>
                <a:cs typeface="Noto Sans CJK SC"/>
              </a:rPr>
              <a:t>核心视觉质量仍依赖 LLM-as-a-Judge，主观性与偏差值得验证。</a:t>
            </a:r>
            <a:endParaRPr lang="en-US" sz="1220"/>
          </a:p>
        </p:txBody>
      </p:sp>
      <p:sp>
        <p:nvSpPr>
          <p:cNvPr id="18" name="Shape 18"/>
          <p:cNvSpPr/>
          <p:nvPr/>
        </p:nvSpPr>
        <p:spPr>
          <a:xfrm>
            <a:off x="1463040" y="4005072"/>
            <a:ext cx="9811512" cy="0"/>
          </a:xfrm>
          <a:prstGeom prst="line">
            <a:avLst/>
          </a:prstGeom>
          <a:noFill/>
          <a:ln w="10160">
            <a:solidFill>
              <a:srgbClr val="303A5C"/>
            </a:solidFill>
          </a:ln>
        </p:spPr>
      </p:sp>
      <p:sp>
        <p:nvSpPr>
          <p:cNvPr id="19" name="Shape 19"/>
          <p:cNvSpPr/>
          <p:nvPr/>
        </p:nvSpPr>
        <p:spPr>
          <a:xfrm>
            <a:off x="749808" y="4315968"/>
            <a:ext cx="493776" cy="310896"/>
          </a:xfrm>
          <a:prstGeom prst="roundRect">
            <a:avLst>
              <a:gd name="adj" fmla="val 52940"/>
            </a:avLst>
          </a:prstGeom>
          <a:solidFill>
            <a:srgbClr val="29A36A"/>
          </a:solidFill>
          <a:ln w="10160">
            <a:solidFill>
              <a:srgbClr val="29A36A"/>
            </a:solidFill>
          </a:ln>
        </p:spPr>
      </p:sp>
      <p:sp>
        <p:nvSpPr>
          <p:cNvPr id="20" name="Shape 20"/>
          <p:cNvSpPr/>
          <p:nvPr/>
        </p:nvSpPr>
        <p:spPr>
          <a:xfrm>
            <a:off x="749808" y="4315968"/>
            <a:ext cx="493776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lang="en-US" sz="950"/>
          </a:p>
        </p:txBody>
      </p:sp>
      <p:sp>
        <p:nvSpPr>
          <p:cNvPr id="21" name="Shape 21"/>
          <p:cNvSpPr/>
          <p:nvPr/>
        </p:nvSpPr>
        <p:spPr>
          <a:xfrm>
            <a:off x="1463040" y="4297680"/>
            <a:ext cx="2999232" cy="329184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Adaptive routing is constrained</a:t>
            </a:r>
            <a:endParaRPr lang="en-US" sz="1600"/>
          </a:p>
        </p:txBody>
      </p:sp>
      <p:sp>
        <p:nvSpPr>
          <p:cNvPr id="22" name="Shape 22"/>
          <p:cNvSpPr/>
          <p:nvPr/>
        </p:nvSpPr>
        <p:spPr>
          <a:xfrm>
            <a:off x="4462272" y="4288536"/>
            <a:ext cx="6812280" cy="475488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220">
                <a:solidFill>
                  <a:srgbClr val="C6CDE2"/>
                </a:solidFill>
                <a:latin typeface="Noto Sans CJK SC"/>
                <a:ea typeface="Noto Sans CJK SC"/>
                <a:cs typeface="Noto Sans CJK SC"/>
              </a:rPr>
              <a:t>PG-first / QE-after-IG / KR-after-low-score 等行为被 prompt + behavior reward 强塑形。</a:t>
            </a:r>
            <a:endParaRPr lang="en-US" sz="1220"/>
          </a:p>
        </p:txBody>
      </p:sp>
      <p:sp>
        <p:nvSpPr>
          <p:cNvPr id="23" name="Shape 23"/>
          <p:cNvSpPr/>
          <p:nvPr/>
        </p:nvSpPr>
        <p:spPr>
          <a:xfrm>
            <a:off x="1463040" y="4946904"/>
            <a:ext cx="9811512" cy="0"/>
          </a:xfrm>
          <a:prstGeom prst="line">
            <a:avLst/>
          </a:prstGeom>
          <a:noFill/>
          <a:ln w="10160">
            <a:solidFill>
              <a:srgbClr val="303A5C"/>
            </a:solidFill>
          </a:ln>
        </p:spPr>
      </p:sp>
      <p:sp>
        <p:nvSpPr>
          <p:cNvPr id="24" name="Shape 24"/>
          <p:cNvSpPr/>
          <p:nvPr/>
        </p:nvSpPr>
        <p:spPr>
          <a:xfrm>
            <a:off x="768096" y="5413248"/>
            <a:ext cx="2103120" cy="31089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1400" b="1">
                <a:solidFill>
                  <a:srgbClr val="AAB4D3"/>
                </a:solidFill>
                <a:latin typeface="Noto Sans CJK SC"/>
                <a:ea typeface="Noto Sans CJK SC"/>
                <a:cs typeface="Noto Sans CJK SC"/>
              </a:rPr>
              <a:t>Possible directions</a:t>
            </a:r>
            <a:endParaRPr lang="en-US" sz="1400"/>
          </a:p>
        </p:txBody>
      </p:sp>
      <p:sp>
        <p:nvSpPr>
          <p:cNvPr id="25" name="Shape 25"/>
          <p:cNvSpPr/>
          <p:nvPr/>
        </p:nvSpPr>
        <p:spPr>
          <a:xfrm>
            <a:off x="2743200" y="5358384"/>
            <a:ext cx="2029968" cy="402336"/>
          </a:xfrm>
          <a:prstGeom prst="roundRect">
            <a:avLst>
              <a:gd name="adj" fmla="val 40910"/>
            </a:avLst>
          </a:prstGeom>
          <a:solidFill>
            <a:srgbClr val="263450"/>
          </a:solidFill>
          <a:ln w="10160">
            <a:solidFill>
              <a:srgbClr val="263450"/>
            </a:solidFill>
          </a:ln>
        </p:spPr>
      </p:sp>
      <p:sp>
        <p:nvSpPr>
          <p:cNvPr id="26" name="Shape 26"/>
          <p:cNvSpPr/>
          <p:nvPr/>
        </p:nvSpPr>
        <p:spPr>
          <a:xfrm>
            <a:off x="2743200" y="5358384"/>
            <a:ext cx="2029968" cy="40233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020" b="1">
                <a:solidFill>
                  <a:srgbClr val="DDE5FF"/>
                </a:solidFill>
                <a:latin typeface="Noto Sans CJK SC"/>
                <a:ea typeface="Noto Sans CJK SC"/>
                <a:cs typeface="Noto Sans CJK SC"/>
              </a:rPr>
              <a:t>Cost-aware tool routing</a:t>
            </a:r>
            <a:endParaRPr lang="en-US" sz="1020"/>
          </a:p>
        </p:txBody>
      </p:sp>
      <p:sp>
        <p:nvSpPr>
          <p:cNvPr id="27" name="Shape 27"/>
          <p:cNvSpPr/>
          <p:nvPr/>
        </p:nvSpPr>
        <p:spPr>
          <a:xfrm>
            <a:off x="4901184" y="5358384"/>
            <a:ext cx="1975104" cy="402336"/>
          </a:xfrm>
          <a:prstGeom prst="roundRect">
            <a:avLst>
              <a:gd name="adj" fmla="val 40910"/>
            </a:avLst>
          </a:prstGeom>
          <a:solidFill>
            <a:srgbClr val="263450"/>
          </a:solidFill>
          <a:ln w="10160">
            <a:solidFill>
              <a:srgbClr val="263450"/>
            </a:solidFill>
          </a:ln>
        </p:spPr>
      </p:sp>
      <p:sp>
        <p:nvSpPr>
          <p:cNvPr id="28" name="Shape 28"/>
          <p:cNvSpPr/>
          <p:nvPr/>
        </p:nvSpPr>
        <p:spPr>
          <a:xfrm>
            <a:off x="4901184" y="5358384"/>
            <a:ext cx="1975104" cy="40233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020" b="1">
                <a:solidFill>
                  <a:srgbClr val="DDE5FF"/>
                </a:solidFill>
                <a:latin typeface="Noto Sans CJK SC"/>
                <a:ea typeface="Noto Sans CJK SC"/>
                <a:cs typeface="Noto Sans CJK SC"/>
              </a:rPr>
              <a:t>Uncertainty-driven KR</a:t>
            </a:r>
            <a:endParaRPr lang="en-US" sz="1020"/>
          </a:p>
        </p:txBody>
      </p:sp>
      <p:sp>
        <p:nvSpPr>
          <p:cNvPr id="29" name="Shape 29"/>
          <p:cNvSpPr/>
          <p:nvPr/>
        </p:nvSpPr>
        <p:spPr>
          <a:xfrm>
            <a:off x="7004304" y="5358384"/>
            <a:ext cx="2505456" cy="402336"/>
          </a:xfrm>
          <a:prstGeom prst="roundRect">
            <a:avLst>
              <a:gd name="adj" fmla="val 40910"/>
            </a:avLst>
          </a:prstGeom>
          <a:solidFill>
            <a:srgbClr val="263450"/>
          </a:solidFill>
          <a:ln w="10160">
            <a:solidFill>
              <a:srgbClr val="263450"/>
            </a:solidFill>
          </a:ln>
        </p:spPr>
      </p:sp>
      <p:sp>
        <p:nvSpPr>
          <p:cNvPr id="30" name="Shape 30"/>
          <p:cNvSpPr/>
          <p:nvPr/>
        </p:nvSpPr>
        <p:spPr>
          <a:xfrm>
            <a:off x="7004304" y="5358384"/>
            <a:ext cx="2505456" cy="40233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020" b="1">
                <a:solidFill>
                  <a:srgbClr val="DDE5FF"/>
                </a:solidFill>
                <a:latin typeface="Noto Sans CJK SC"/>
                <a:ea typeface="Noto Sans CJK SC"/>
                <a:cs typeface="Noto Sans CJK SC"/>
              </a:rPr>
              <a:t>Multi-critic / verifiable reward</a:t>
            </a:r>
            <a:endParaRPr lang="en-US" sz="1020"/>
          </a:p>
        </p:txBody>
      </p:sp>
      <p:sp>
        <p:nvSpPr>
          <p:cNvPr id="31" name="Shape 31"/>
          <p:cNvSpPr/>
          <p:nvPr/>
        </p:nvSpPr>
        <p:spPr>
          <a:xfrm>
            <a:off x="9637776" y="5358384"/>
            <a:ext cx="1664208" cy="402336"/>
          </a:xfrm>
          <a:prstGeom prst="roundRect">
            <a:avLst>
              <a:gd name="adj" fmla="val 40910"/>
            </a:avLst>
          </a:prstGeom>
          <a:solidFill>
            <a:srgbClr val="263450"/>
          </a:solidFill>
          <a:ln w="10160">
            <a:solidFill>
              <a:srgbClr val="263450"/>
            </a:solidFill>
          </a:ln>
        </p:spPr>
      </p:sp>
      <p:sp>
        <p:nvSpPr>
          <p:cNvPr id="32" name="Shape 32"/>
          <p:cNvSpPr/>
          <p:nvPr/>
        </p:nvSpPr>
        <p:spPr>
          <a:xfrm>
            <a:off x="9637776" y="5358384"/>
            <a:ext cx="1664208" cy="402336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970" b="1">
                <a:solidFill>
                  <a:srgbClr val="DDE5FF"/>
                </a:solidFill>
                <a:latin typeface="Noto Sans CJK SC"/>
                <a:ea typeface="Noto Sans CJK SC"/>
                <a:cs typeface="Noto Sans CJK SC"/>
              </a:rPr>
              <a:t>Hard-negative synthesis</a:t>
            </a:r>
            <a:endParaRPr lang="en-US" sz="970"/>
          </a:p>
        </p:txBody>
      </p:sp>
      <p:sp>
        <p:nvSpPr>
          <p:cNvPr id="33" name="Shape 33"/>
          <p:cNvSpPr/>
          <p:nvPr/>
        </p:nvSpPr>
        <p:spPr>
          <a:xfrm>
            <a:off x="1005840" y="6062472"/>
            <a:ext cx="10149840" cy="475488"/>
          </a:xfrm>
          <a:prstGeom prst="roundRect">
            <a:avLst>
              <a:gd name="adj" fmla="val 19230"/>
            </a:avLst>
          </a:prstGeom>
          <a:solidFill>
            <a:srgbClr val="1B2440"/>
          </a:solidFill>
          <a:ln w="12700">
            <a:solidFill>
              <a:srgbClr val="DDE5FF"/>
            </a:solidFill>
          </a:ln>
        </p:spPr>
      </p:sp>
      <p:sp>
        <p:nvSpPr>
          <p:cNvPr id="34" name="Shape 34"/>
          <p:cNvSpPr/>
          <p:nvPr/>
        </p:nvSpPr>
        <p:spPr>
          <a:xfrm>
            <a:off x="1170432" y="6135624"/>
            <a:ext cx="9820656" cy="329184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500" b="1">
                <a:solidFill>
                  <a:srgbClr val="DDE5FF"/>
                </a:solidFill>
                <a:latin typeface="Noto Sans CJK SC"/>
                <a:ea typeface="Noto Sans CJK SC"/>
                <a:cs typeface="Noto Sans CJK SC"/>
              </a:rPr>
              <a:t>Key takeaway: </a:t>
            </a:r>
            <a:r>
              <a:rPr lang="en-US" sz="1500" b="1">
                <a:solidFill>
                  <a:srgbClr val="DDE5FF"/>
                </a:solidFill>
                <a:latin typeface="Noto Sans CJK SC"/>
                <a:ea typeface="Noto Sans CJK SC"/>
                <a:cs typeface="Noto Sans CJK SC"/>
              </a:rPr>
              <a:t>AnomalyAgent turns anomaly generation from a one-shot process into an iterative optimization loop</a:t>
            </a:r>
            <a:r>
              <a:rPr lang="en-US" sz="1500" b="1">
                <a:solidFill>
                  <a:srgbClr val="DDE5FF"/>
                </a:solidFill>
                <a:latin typeface="Noto Sans CJK SC"/>
                <a:ea typeface="Noto Sans CJK SC"/>
                <a:cs typeface="Noto Sans CJK SC"/>
              </a:rPr>
              <a:t>.</a:t>
            </a:r>
            <a:endParaRPr lang="en-US" sz="1500"/>
          </a:p>
        </p:txBody>
      </p:sp>
      <p:sp>
        <p:nvSpPr>
          <p:cNvPr id="35" name="Shape 35"/>
          <p:cNvSpPr/>
          <p:nvPr/>
        </p:nvSpPr>
        <p:spPr>
          <a:xfrm>
            <a:off x="667512" y="6519672"/>
            <a:ext cx="3657600" cy="164592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/>
            <a:r>
              <a:rPr lang="en-US" sz="800">
                <a:solidFill>
                  <a:srgbClr val="687392"/>
                </a:solidFill>
                <a:latin typeface="Noto Sans CJK SC"/>
                <a:ea typeface="Noto Sans CJK SC"/>
                <a:cs typeface="Noto Sans CJK SC"/>
              </a:rPr>
              <a:t>Su et al., arXiv:2604.07900</a:t>
            </a:r>
            <a:endParaRPr lang="en-US" sz="800"/>
          </a:p>
        </p:txBody>
      </p:sp>
      <p:sp>
        <p:nvSpPr>
          <p:cNvPr id="36" name="Shape 36"/>
          <p:cNvSpPr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r"/>
            <a:r>
              <a:rPr lang="en-US" sz="850">
                <a:solidFill>
                  <a:srgbClr val="687392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lang="en-US" sz="850"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31089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DISCUSSION</a:t>
            </a:r>
            <a:endParaRPr lang="en-US" sz="1400"/>
          </a:p>
        </p:txBody>
      </p:sp>
      <p:sp>
        <p:nvSpPr>
          <p:cNvPr id="3" name="Shape 3"/>
          <p:cNvSpPr txBox="1"/>
          <p:nvPr/>
        </p:nvSpPr>
        <p:spPr>
          <a:xfrm>
            <a:off x="685800" y="576072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局限性与我的研究启发</a:t>
            </a:r>
            <a:endParaRPr lang="en-US" sz="1400"/>
          </a:p>
        </p:txBody>
      </p:sp>
      <p:sp>
        <p:nvSpPr>
          <p:cNvPr id="4" name="Shape 4"/>
          <p:cNvSpPr/>
          <p:nvPr/>
        </p:nvSpPr>
        <p:spPr>
          <a:xfrm>
            <a:off x="685800" y="1152144"/>
            <a:ext cx="10808208" cy="10973"/>
          </a:xfrm>
          <a:prstGeom prst="rect">
            <a:avLst/>
          </a:prstGeom>
          <a:solidFill>
            <a:srgbClr val="E0E2E6"/>
          </a:solidFill>
        </p:spPr>
      </p:sp>
      <p:sp>
        <p:nvSpPr>
          <p:cNvPr id="5" name="Shape 5"/>
          <p:cNvSpPr txBox="1"/>
          <p:nvPr/>
        </p:nvSpPr>
        <p:spPr>
          <a:xfrm>
            <a:off x="10972800" y="329184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r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14</a:t>
            </a:r>
            <a:endParaRPr lang="en-US" sz="1400"/>
          </a:p>
        </p:txBody>
      </p:sp>
      <p:sp>
        <p:nvSpPr>
          <p:cNvPr id="6" name="Shape 6"/>
          <p:cNvSpPr txBox="1"/>
          <p:nvPr/>
        </p:nvSpPr>
        <p:spPr>
          <a:xfrm>
            <a:off x="868680" y="141732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Limitations</a:t>
            </a:r>
            <a:endParaRPr lang="en-US" sz="1400"/>
          </a:p>
        </p:txBody>
      </p:sp>
      <p:sp>
        <p:nvSpPr>
          <p:cNvPr id="7" name="Shape 7"/>
          <p:cNvSpPr/>
          <p:nvPr/>
        </p:nvSpPr>
        <p:spPr>
          <a:xfrm>
            <a:off x="822960" y="1920240"/>
            <a:ext cx="4892040" cy="960120"/>
          </a:xfrm>
          <a:prstGeom prst="roundRect">
            <a:avLst/>
          </a:prstGeom>
          <a:solidFill>
            <a:srgbClr val="FAEBEB"/>
          </a:solidFill>
          <a:ln w="12700">
            <a:solidFill>
              <a:srgbClr val="E0E2E6"/>
            </a:solidFill>
          </a:ln>
        </p:spPr>
      </p:sp>
      <p:sp>
        <p:nvSpPr>
          <p:cNvPr id="8" name="Shape 8"/>
          <p:cNvSpPr/>
          <p:nvPr/>
        </p:nvSpPr>
        <p:spPr>
          <a:xfrm>
            <a:off x="822960" y="1920240"/>
            <a:ext cx="54864" cy="960120"/>
          </a:xfrm>
          <a:prstGeom prst="rect">
            <a:avLst/>
          </a:prstGeom>
          <a:solidFill>
            <a:srgbClr val="B73B3B"/>
          </a:solidFill>
        </p:spPr>
      </p:sp>
      <p:sp>
        <p:nvSpPr>
          <p:cNvPr id="9" name="Shape 9"/>
          <p:cNvSpPr txBox="1"/>
          <p:nvPr/>
        </p:nvSpPr>
        <p:spPr>
          <a:xfrm>
            <a:off x="1024128" y="2084832"/>
            <a:ext cx="452628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Zero-shot 边界</a:t>
            </a:r>
            <a:endParaRPr lang="en-US" sz="1400"/>
          </a:p>
        </p:txBody>
      </p:sp>
      <p:sp>
        <p:nvSpPr>
          <p:cNvPr id="10" name="Shape 10"/>
          <p:cNvSpPr txBox="1"/>
          <p:nvPr/>
        </p:nvSpPr>
        <p:spPr>
          <a:xfrm>
            <a:off x="1024128" y="2487168"/>
            <a:ext cx="452628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训练轨迹仍来自 VisA 的真实异常。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822960" y="3154680"/>
            <a:ext cx="4892040" cy="960120"/>
          </a:xfrm>
          <a:prstGeom prst="roundRect">
            <a:avLst/>
          </a:prstGeom>
          <a:solidFill>
            <a:srgbClr val="FAEBEB"/>
          </a:solidFill>
          <a:ln w="12700">
            <a:solidFill>
              <a:srgbClr val="E0E2E6"/>
            </a:solidFill>
          </a:ln>
        </p:spPr>
      </p:sp>
      <p:sp>
        <p:nvSpPr>
          <p:cNvPr id="12" name="Shape 12"/>
          <p:cNvSpPr/>
          <p:nvPr/>
        </p:nvSpPr>
        <p:spPr>
          <a:xfrm>
            <a:off x="822960" y="3154680"/>
            <a:ext cx="54864" cy="960120"/>
          </a:xfrm>
          <a:prstGeom prst="rect">
            <a:avLst/>
          </a:prstGeom>
          <a:solidFill>
            <a:srgbClr val="B73B3B"/>
          </a:solidFill>
        </p:spPr>
      </p:sp>
      <p:sp>
        <p:nvSpPr>
          <p:cNvPr id="13" name="Shape 13"/>
          <p:cNvSpPr txBox="1"/>
          <p:nvPr/>
        </p:nvSpPr>
        <p:spPr>
          <a:xfrm>
            <a:off x="1024128" y="3319272"/>
            <a:ext cx="452628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闭源依赖</a:t>
            </a:r>
            <a:endParaRPr lang="en-US" sz="1400"/>
          </a:p>
        </p:txBody>
      </p:sp>
      <p:sp>
        <p:nvSpPr>
          <p:cNvPr id="14" name="Shape 14"/>
          <p:cNvSpPr txBox="1"/>
          <p:nvPr/>
        </p:nvSpPr>
        <p:spPr>
          <a:xfrm>
            <a:off x="1024128" y="3721608"/>
            <a:ext cx="452628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Gemini + Search 影响复现与隐私。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822960" y="4389120"/>
            <a:ext cx="4892040" cy="960120"/>
          </a:xfrm>
          <a:prstGeom prst="roundRect">
            <a:avLst/>
          </a:prstGeom>
          <a:solidFill>
            <a:srgbClr val="FAEBEB"/>
          </a:solidFill>
          <a:ln w="12700">
            <a:solidFill>
              <a:srgbClr val="E0E2E6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22960" y="4389120"/>
            <a:ext cx="54864" cy="960120"/>
          </a:xfrm>
          <a:prstGeom prst="rect">
            <a:avLst/>
          </a:prstGeom>
          <a:solidFill>
            <a:srgbClr val="B73B3B"/>
          </a:solidFill>
        </p:spPr>
      </p:sp>
      <p:sp>
        <p:nvSpPr>
          <p:cNvPr id="17" name="Shape 17"/>
          <p:cNvSpPr txBox="1"/>
          <p:nvPr/>
        </p:nvSpPr>
        <p:spPr>
          <a:xfrm>
            <a:off x="1024128" y="4553712"/>
            <a:ext cx="452628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Reward 主观性</a:t>
            </a:r>
            <a:endParaRPr lang="en-US" sz="1400"/>
          </a:p>
        </p:txBody>
      </p:sp>
      <p:sp>
        <p:nvSpPr>
          <p:cNvPr id="18" name="Shape 18"/>
          <p:cNvSpPr txBox="1"/>
          <p:nvPr/>
        </p:nvSpPr>
        <p:spPr>
          <a:xfrm>
            <a:off x="1024128" y="4956048"/>
            <a:ext cx="452628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视觉质量核心仍依赖 LLM-as-a-Judge。</a:t>
            </a:r>
            <a:endParaRPr lang="en-US" sz="1400"/>
          </a:p>
        </p:txBody>
      </p:sp>
      <p:sp>
        <p:nvSpPr>
          <p:cNvPr id="19" name="Shape 19"/>
          <p:cNvSpPr txBox="1"/>
          <p:nvPr/>
        </p:nvSpPr>
        <p:spPr>
          <a:xfrm>
            <a:off x="6400800" y="14173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Possible directions</a:t>
            </a:r>
            <a:endParaRPr lang="en-US" sz="1400"/>
          </a:p>
        </p:txBody>
      </p:sp>
      <p:sp>
        <p:nvSpPr>
          <p:cNvPr id="20" name="Shape 20"/>
          <p:cNvSpPr/>
          <p:nvPr/>
        </p:nvSpPr>
        <p:spPr>
          <a:xfrm>
            <a:off x="6355080" y="1920240"/>
            <a:ext cx="4983480" cy="960120"/>
          </a:xfrm>
          <a:prstGeom prst="roundRect">
            <a:avLst/>
          </a:prstGeom>
          <a:solidFill>
            <a:srgbClr val="E8EEFC"/>
          </a:solidFill>
          <a:ln w="12700">
            <a:solidFill>
              <a:srgbClr val="E0E2E6"/>
            </a:solidFill>
          </a:ln>
        </p:spPr>
      </p:sp>
      <p:sp>
        <p:nvSpPr>
          <p:cNvPr id="21" name="Shape 21"/>
          <p:cNvSpPr/>
          <p:nvPr/>
        </p:nvSpPr>
        <p:spPr>
          <a:xfrm>
            <a:off x="6355080" y="1920240"/>
            <a:ext cx="54864" cy="960120"/>
          </a:xfrm>
          <a:prstGeom prst="rect">
            <a:avLst/>
          </a:prstGeom>
          <a:solidFill>
            <a:srgbClr val="2454B4"/>
          </a:solidFill>
        </p:spPr>
      </p:sp>
      <p:sp>
        <p:nvSpPr>
          <p:cNvPr id="22" name="Shape 22"/>
          <p:cNvSpPr txBox="1"/>
          <p:nvPr/>
        </p:nvSpPr>
        <p:spPr>
          <a:xfrm>
            <a:off x="6556248" y="2084832"/>
            <a:ext cx="461772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Cost-aware routing</a:t>
            </a:r>
            <a:endParaRPr lang="en-US" sz="1400"/>
          </a:p>
        </p:txBody>
      </p:sp>
      <p:sp>
        <p:nvSpPr>
          <p:cNvPr id="23" name="Shape 23"/>
          <p:cNvSpPr txBox="1"/>
          <p:nvPr/>
        </p:nvSpPr>
        <p:spPr>
          <a:xfrm>
            <a:off x="6556248" y="2487168"/>
            <a:ext cx="461772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根据难度动态跳过高成本工具。</a:t>
            </a:r>
            <a:endParaRPr lang="en-US" sz="1400"/>
          </a:p>
        </p:txBody>
      </p:sp>
      <p:sp>
        <p:nvSpPr>
          <p:cNvPr id="24" name="Shape 24"/>
          <p:cNvSpPr/>
          <p:nvPr/>
        </p:nvSpPr>
        <p:spPr>
          <a:xfrm>
            <a:off x="6355080" y="3154680"/>
            <a:ext cx="4983480" cy="960120"/>
          </a:xfrm>
          <a:prstGeom prst="roundRect">
            <a:avLst/>
          </a:prstGeom>
          <a:solidFill>
            <a:srgbClr val="E8EEFC"/>
          </a:solidFill>
          <a:ln w="12700">
            <a:solidFill>
              <a:srgbClr val="E0E2E6"/>
            </a:solidFill>
          </a:ln>
        </p:spPr>
      </p:sp>
      <p:sp>
        <p:nvSpPr>
          <p:cNvPr id="25" name="Shape 25"/>
          <p:cNvSpPr/>
          <p:nvPr/>
        </p:nvSpPr>
        <p:spPr>
          <a:xfrm>
            <a:off x="6355080" y="3154680"/>
            <a:ext cx="54864" cy="960120"/>
          </a:xfrm>
          <a:prstGeom prst="rect">
            <a:avLst/>
          </a:prstGeom>
          <a:solidFill>
            <a:srgbClr val="2454B4"/>
          </a:solidFill>
        </p:spPr>
      </p:sp>
      <p:sp>
        <p:nvSpPr>
          <p:cNvPr id="26" name="Shape 26"/>
          <p:cNvSpPr txBox="1"/>
          <p:nvPr/>
        </p:nvSpPr>
        <p:spPr>
          <a:xfrm>
            <a:off x="6556248" y="3319272"/>
            <a:ext cx="461772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Uncertainty-driven KR</a:t>
            </a:r>
            <a:endParaRPr lang="en-US" sz="1400"/>
          </a:p>
        </p:txBody>
      </p:sp>
      <p:sp>
        <p:nvSpPr>
          <p:cNvPr id="27" name="Shape 27"/>
          <p:cNvSpPr txBox="1"/>
          <p:nvPr/>
        </p:nvSpPr>
        <p:spPr>
          <a:xfrm>
            <a:off x="6556248" y="3721608"/>
            <a:ext cx="461772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只在“真的不确定”时检索知识。</a:t>
            </a:r>
            <a:endParaRPr lang="en-US" sz="1400"/>
          </a:p>
        </p:txBody>
      </p:sp>
      <p:sp>
        <p:nvSpPr>
          <p:cNvPr id="28" name="Shape 28"/>
          <p:cNvSpPr/>
          <p:nvPr/>
        </p:nvSpPr>
        <p:spPr>
          <a:xfrm>
            <a:off x="6355080" y="4389120"/>
            <a:ext cx="4983480" cy="960120"/>
          </a:xfrm>
          <a:prstGeom prst="roundRect">
            <a:avLst/>
          </a:prstGeom>
          <a:solidFill>
            <a:srgbClr val="E8EEFC"/>
          </a:solidFill>
          <a:ln w="12700">
            <a:solidFill>
              <a:srgbClr val="E0E2E6"/>
            </a:solidFill>
          </a:ln>
        </p:spPr>
      </p:sp>
      <p:sp>
        <p:nvSpPr>
          <p:cNvPr id="29" name="Shape 29"/>
          <p:cNvSpPr/>
          <p:nvPr/>
        </p:nvSpPr>
        <p:spPr>
          <a:xfrm>
            <a:off x="6355080" y="4389120"/>
            <a:ext cx="54864" cy="960120"/>
          </a:xfrm>
          <a:prstGeom prst="rect">
            <a:avLst/>
          </a:prstGeom>
          <a:solidFill>
            <a:srgbClr val="2454B4"/>
          </a:solidFill>
        </p:spPr>
      </p:sp>
      <p:sp>
        <p:nvSpPr>
          <p:cNvPr id="30" name="Shape 30"/>
          <p:cNvSpPr txBox="1"/>
          <p:nvPr/>
        </p:nvSpPr>
        <p:spPr>
          <a:xfrm>
            <a:off x="6556248" y="4553712"/>
            <a:ext cx="461772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Verifiable reward</a:t>
            </a:r>
            <a:endParaRPr lang="en-US" sz="1400"/>
          </a:p>
        </p:txBody>
      </p:sp>
      <p:sp>
        <p:nvSpPr>
          <p:cNvPr id="31" name="Shape 31"/>
          <p:cNvSpPr txBox="1"/>
          <p:nvPr/>
        </p:nvSpPr>
        <p:spPr>
          <a:xfrm>
            <a:off x="6556248" y="4956048"/>
            <a:ext cx="461772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引入几何、物理或多 Critic 约束。</a:t>
            </a:r>
            <a:endParaRPr lang="en-US" sz="1400"/>
          </a:p>
        </p:txBody>
      </p:sp>
      <p:sp>
        <p:nvSpPr>
          <p:cNvPr id="32" name="Shape 32"/>
          <p:cNvSpPr/>
          <p:nvPr/>
        </p:nvSpPr>
        <p:spPr>
          <a:xfrm>
            <a:off x="1051560" y="5715000"/>
            <a:ext cx="10058400" cy="658368"/>
          </a:xfrm>
          <a:prstGeom prst="roundRect">
            <a:avLst/>
          </a:prstGeom>
          <a:solidFill>
            <a:srgbClr val="141416"/>
          </a:solidFill>
          <a:ln w="12700">
            <a:solidFill>
              <a:srgbClr val="141416"/>
            </a:solidFill>
          </a:ln>
        </p:spPr>
      </p:sp>
      <p:sp>
        <p:nvSpPr>
          <p:cNvPr id="33" name="Shape 33"/>
          <p:cNvSpPr txBox="1"/>
          <p:nvPr/>
        </p:nvSpPr>
        <p:spPr>
          <a:xfrm>
            <a:off x="1234440" y="5879592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ctr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Takeaway: 生成模型只是“执行器”；真正的增益来自 Evaluator–Reflection–Tool Loop。</a:t>
            </a:r>
            <a:endParaRPr lang="en-US" sz="1400"/>
          </a:p>
        </p:txBody>
      </p:sp>
      <p:sp>
        <p:nvSpPr>
          <p:cNvPr id="34" name="Shape 34"/>
          <p:cNvSpPr txBox="1"/>
          <p:nvPr/>
        </p:nvSpPr>
        <p:spPr>
          <a:xfrm>
            <a:off x="685800" y="6519672"/>
            <a:ext cx="1078992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/>
          <a:lstStyle/>
          <a:p>
            <a:pPr algn="l"/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Su et al., arXiv:2604.07900 (2026)</a:t>
            </a:r>
            <a:endParaRPr lang="en-US" sz="1400"/>
          </a:p>
        </p:txBody>
      </p:sp>
    </p:spTree>
  </p:cSld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